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4" r:id="rId1"/>
  </p:sldMasterIdLst>
  <p:notesMasterIdLst>
    <p:notesMasterId r:id="rId12"/>
  </p:notesMasterIdLst>
  <p:sldIdLst>
    <p:sldId id="256" r:id="rId2"/>
    <p:sldId id="257" r:id="rId3"/>
    <p:sldId id="258" r:id="rId4"/>
    <p:sldId id="259" r:id="rId5"/>
    <p:sldId id="260" r:id="rId6"/>
    <p:sldId id="264" r:id="rId7"/>
    <p:sldId id="261" r:id="rId8"/>
    <p:sldId id="265" r:id="rId9"/>
    <p:sldId id="263" r:id="rId10"/>
    <p:sldId id="266" r:id="rId11"/>
  </p:sldIdLst>
  <p:sldSz cx="12192000" cy="6858000"/>
  <p:notesSz cx="6858000" cy="12192000"/>
  <p:embeddedFontLst>
    <p:embeddedFont>
      <p:font typeface="DM Sans Bold" panose="020B0604020202020204" charset="0"/>
      <p:regular r:id="rId13"/>
    </p:embeddedFont>
    <p:embeddedFont>
      <p:font typeface="DM Sans Light" panose="020B0604020202020204" charset="0"/>
      <p:regular r:id="rId14"/>
    </p:embeddedFont>
    <p:embeddedFont>
      <p:font typeface="Manrope" panose="020B0604020202020204" charset="0"/>
      <p:regular r:id="rId15"/>
    </p:embeddedFont>
    <p:embeddedFont>
      <p:font typeface="Tw Cen MT" panose="020B0602020104020603" pitchFamily="34" charset="0"/>
      <p:regular r:id="rId16"/>
      <p:bold r:id="rId17"/>
      <p:italic r:id="rId18"/>
      <p:boldItalic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8058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062B3-7FC1-024B-0126-7A3A06A81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A7E5C-4E26-4064-D54D-473706251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C952C-88E3-7039-A057-4B59FA62B7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72D3AE-0A07-DAD0-74B4-1B5925C26B4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174680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0C9DA-3A82-BF65-AD8A-F813BA4EA6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6CA8CA-DBEA-DE58-AD72-910FD44460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20C5A1-5A3D-EC17-CB4A-9D9DDCF3F8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5144E9-EE09-E0C0-2065-149A6733DE6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44242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2E63C-B2D4-8849-6E0B-9BB748BB5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B1357-2E00-D709-FE54-4A1C622B0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F5CA61-7389-9687-CADB-DA1CA6D28A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7800B1-BA2C-D6D3-0B85-70306E7B08ED}"/>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237606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9349304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64C608-40B1-4030-A28D-5B74BC98ADCE}" type="datetimeFigureOut">
              <a:rPr lang="en-US" smtClean="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2535739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F822A4-8DA6-4447-9B1F-C5DB58435268}" type="datetimeFigureOut">
              <a:rPr lang="en-US" smtClean="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5235694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64C608-40B1-4030-A28D-5B74BC98ADCE}" type="datetimeFigureOut">
              <a:rPr lang="en-US" smtClean="0"/>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8766190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64C608-40B1-4030-A28D-5B74BC98ADCE}" type="datetimeFigureOut">
              <a:rPr lang="en-US" smtClean="0"/>
              <a:t>8/26/2026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8276077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smtClean="0"/>
              <a:t>8/26/2026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73542564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A4E7D1B-D673-4CF6-8672-009D42ABD2A0}" type="datetimeFigureOut">
              <a:rPr lang="en-US" smtClean="0"/>
              <a:t>8/26/2026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6167568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64C608-40B1-4030-A28D-5B74BC98ADCE}" type="datetimeFigureOut">
              <a:rPr lang="en-US" smtClean="0"/>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9465154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smtClean="0"/>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5698379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64C608-40B1-4030-A28D-5B74BC98ADCE}" type="datetimeFigureOut">
              <a:rPr lang="en-US" smtClean="0"/>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301808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64C608-40B1-4030-A28D-5B74BC98ADCE}" type="datetimeFigureOut">
              <a:rPr lang="en-US" smtClean="0"/>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7028259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64C608-40B1-4030-A28D-5B74BC98ADCE}" type="datetimeFigureOut">
              <a:rPr lang="en-US" smtClean="0"/>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6399854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64C608-40B1-4030-A28D-5B74BC98ADCE}" type="datetimeFigureOut">
              <a:rPr lang="en-US" smtClean="0"/>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8236065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664C608-40B1-4030-A28D-5B74BC98ADCE}" type="datetimeFigureOut">
              <a:rPr lang="en-US" smtClean="0"/>
              <a:t>8/26/2026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6986725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664C608-40B1-4030-A28D-5B74BC98ADCE}" type="datetimeFigureOut">
              <a:rPr lang="en-US" smtClean="0"/>
              <a:t>8/26/2026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783137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64C608-40B1-4030-A28D-5B74BC98ADCE}" type="datetimeFigureOut">
              <a:rPr lang="en-US" smtClean="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9060505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64C608-40B1-4030-A28D-5B74BC98ADCE}" type="datetimeFigureOut">
              <a:rPr lang="en-US" smtClean="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2312948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917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664C608-40B1-4030-A28D-5B74BC98ADCE}" type="datetimeFigureOut">
              <a:rPr lang="en-US" smtClean="0"/>
              <a:t>8/26/2026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6599290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Lst>
  <p:hf sldNum="0"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18.xml"/><Relationship Id="rId5" Type="http://schemas.openxmlformats.org/officeDocument/2006/relationships/image" Target="../media/image21.jpeg"/><Relationship Id="rId4" Type="http://schemas.openxmlformats.org/officeDocument/2006/relationships/image" Target="../media/image20.jpe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10" name="Shape 6">
            <a:extLst>
              <a:ext uri="{FF2B5EF4-FFF2-40B4-BE49-F238E27FC236}">
                <a16:creationId xmlns:a16="http://schemas.microsoft.com/office/drawing/2014/main" id="{AD9B8927-2E58-2B0D-E96B-15DA6C80E111}"/>
              </a:ext>
            </a:extLst>
          </p:cNvPr>
          <p:cNvSpPr/>
          <p:nvPr/>
        </p:nvSpPr>
        <p:spPr>
          <a:xfrm>
            <a:off x="8448431" y="5609952"/>
            <a:ext cx="2254634" cy="388559"/>
          </a:xfrm>
          <a:prstGeom prst="roundRect">
            <a:avLst>
              <a:gd name="adj" fmla="val 49999"/>
            </a:avLst>
          </a:prstGeom>
          <a:solidFill>
            <a:srgbClr val="D4F7F5"/>
          </a:solidFill>
          <a:ln/>
        </p:spPr>
        <p:txBody>
          <a:bodyPr/>
          <a:lstStyle/>
          <a:p>
            <a:endParaRPr lang="vi-VN"/>
          </a:p>
        </p:txBody>
      </p:sp>
      <p:sp>
        <p:nvSpPr>
          <p:cNvPr id="9" name="Shape 6">
            <a:extLst>
              <a:ext uri="{FF2B5EF4-FFF2-40B4-BE49-F238E27FC236}">
                <a16:creationId xmlns:a16="http://schemas.microsoft.com/office/drawing/2014/main" id="{B8ABA61A-4BE6-0478-8E1A-E19AA73CCCE3}"/>
              </a:ext>
            </a:extLst>
          </p:cNvPr>
          <p:cNvSpPr/>
          <p:nvPr/>
        </p:nvSpPr>
        <p:spPr>
          <a:xfrm>
            <a:off x="8421182" y="5097767"/>
            <a:ext cx="2254634" cy="388559"/>
          </a:xfrm>
          <a:prstGeom prst="roundRect">
            <a:avLst>
              <a:gd name="adj" fmla="val 49999"/>
            </a:avLst>
          </a:prstGeom>
          <a:solidFill>
            <a:srgbClr val="D4F7F5"/>
          </a:solidFill>
          <a:ln/>
        </p:spPr>
        <p:txBody>
          <a:bodyPr/>
          <a:lstStyle/>
          <a:p>
            <a:endParaRPr lang="vi-VN"/>
          </a:p>
        </p:txBody>
      </p:sp>
      <p:pic>
        <p:nvPicPr>
          <p:cNvPr id="2" name="Image 0"/>
          <p:cNvPicPr>
            <a:picLocks noChangeAspect="1"/>
          </p:cNvPicPr>
          <p:nvPr/>
        </p:nvPicPr>
        <p:blipFill>
          <a:blip r:embed="rId3"/>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136084" y="1369419"/>
            <a:ext cx="6296860" cy="1039614"/>
          </a:xfrm>
          <a:prstGeom prst="rect">
            <a:avLst/>
          </a:prstGeom>
          <a:noFill/>
          <a:ln/>
        </p:spPr>
        <p:txBody>
          <a:bodyPr wrap="none" lIns="0" tIns="0" rIns="0" bIns="0" rtlCol="0" anchor="t"/>
          <a:lstStyle/>
          <a:p>
            <a:pPr marL="0" indent="0" algn="l">
              <a:lnSpc>
                <a:spcPct val="92000"/>
              </a:lnSpc>
              <a:buNone/>
            </a:pPr>
            <a:r>
              <a:rPr lang="en-US" sz="7400" kern="0" spc="-223" dirty="0">
                <a:solidFill>
                  <a:srgbClr val="2F4F4F"/>
                </a:solidFill>
                <a:latin typeface="DM Sans Light" pitchFamily="34" charset="0"/>
                <a:ea typeface="DM Sans Light" pitchFamily="34" charset="-122"/>
                <a:cs typeface="DM Sans Light" pitchFamily="34" charset="-120"/>
              </a:rPr>
              <a:t>ContactVIP</a:t>
            </a:r>
            <a:endParaRPr lang="en-US" sz="7400" dirty="0"/>
          </a:p>
        </p:txBody>
      </p:sp>
      <p:pic>
        <p:nvPicPr>
          <p:cNvPr id="4" name="Image 1" descr="preencoded.png"/>
          <p:cNvPicPr>
            <a:picLocks noChangeAspect="1"/>
          </p:cNvPicPr>
          <p:nvPr/>
        </p:nvPicPr>
        <p:blipFill>
          <a:blip r:embed="rId4"/>
          <a:stretch>
            <a:fillRect/>
          </a:stretch>
        </p:blipFill>
        <p:spPr>
          <a:xfrm>
            <a:off x="5233360" y="2536860"/>
            <a:ext cx="1987203" cy="519807"/>
          </a:xfrm>
          <a:prstGeom prst="rect">
            <a:avLst/>
          </a:prstGeom>
        </p:spPr>
      </p:pic>
      <p:sp>
        <p:nvSpPr>
          <p:cNvPr id="5" name="Shape 6">
            <a:extLst>
              <a:ext uri="{FF2B5EF4-FFF2-40B4-BE49-F238E27FC236}">
                <a16:creationId xmlns:a16="http://schemas.microsoft.com/office/drawing/2014/main" id="{092949CB-F08D-0195-1AB1-F623409335A8}"/>
              </a:ext>
            </a:extLst>
          </p:cNvPr>
          <p:cNvSpPr/>
          <p:nvPr/>
        </p:nvSpPr>
        <p:spPr>
          <a:xfrm>
            <a:off x="8421182" y="4581987"/>
            <a:ext cx="2254634" cy="388559"/>
          </a:xfrm>
          <a:prstGeom prst="roundRect">
            <a:avLst>
              <a:gd name="adj" fmla="val 49999"/>
            </a:avLst>
          </a:prstGeom>
          <a:solidFill>
            <a:srgbClr val="D4F7F5"/>
          </a:solidFill>
          <a:ln/>
        </p:spPr>
        <p:txBody>
          <a:bodyPr/>
          <a:lstStyle/>
          <a:p>
            <a:endParaRPr lang="vi-VN"/>
          </a:p>
        </p:txBody>
      </p:sp>
      <p:sp>
        <p:nvSpPr>
          <p:cNvPr id="6" name="TextBox 5">
            <a:extLst>
              <a:ext uri="{FF2B5EF4-FFF2-40B4-BE49-F238E27FC236}">
                <a16:creationId xmlns:a16="http://schemas.microsoft.com/office/drawing/2014/main" id="{B0440BFB-225C-CB68-59C6-BAE771F32527}"/>
              </a:ext>
            </a:extLst>
          </p:cNvPr>
          <p:cNvSpPr txBox="1"/>
          <p:nvPr/>
        </p:nvSpPr>
        <p:spPr>
          <a:xfrm>
            <a:off x="8839200" y="4604809"/>
            <a:ext cx="1469293" cy="369332"/>
          </a:xfrm>
          <a:prstGeom prst="rect">
            <a:avLst/>
          </a:prstGeom>
          <a:noFill/>
        </p:spPr>
        <p:txBody>
          <a:bodyPr wrap="square" rtlCol="0">
            <a:spAutoFit/>
          </a:bodyPr>
          <a:lstStyle/>
          <a:p>
            <a:r>
              <a:rPr lang="en-US" dirty="0"/>
              <a:t>Vũ </a:t>
            </a:r>
            <a:r>
              <a:rPr lang="en-US" dirty="0" err="1"/>
              <a:t>Viết</a:t>
            </a:r>
            <a:r>
              <a:rPr lang="en-US" dirty="0"/>
              <a:t> Quân</a:t>
            </a:r>
            <a:endParaRPr lang="vi-VN" dirty="0"/>
          </a:p>
        </p:txBody>
      </p:sp>
      <p:sp>
        <p:nvSpPr>
          <p:cNvPr id="7" name="TextBox 6">
            <a:extLst>
              <a:ext uri="{FF2B5EF4-FFF2-40B4-BE49-F238E27FC236}">
                <a16:creationId xmlns:a16="http://schemas.microsoft.com/office/drawing/2014/main" id="{BB64FE2C-A93E-ED76-9507-E6938BC61DCC}"/>
              </a:ext>
            </a:extLst>
          </p:cNvPr>
          <p:cNvSpPr txBox="1"/>
          <p:nvPr/>
        </p:nvSpPr>
        <p:spPr>
          <a:xfrm>
            <a:off x="8866449" y="5079130"/>
            <a:ext cx="1836616" cy="369332"/>
          </a:xfrm>
          <a:prstGeom prst="rect">
            <a:avLst/>
          </a:prstGeom>
          <a:noFill/>
        </p:spPr>
        <p:txBody>
          <a:bodyPr wrap="square" rtlCol="0">
            <a:spAutoFit/>
          </a:bodyPr>
          <a:lstStyle/>
          <a:p>
            <a:r>
              <a:rPr lang="en-US" dirty="0"/>
              <a:t>Hồ Huy Tiến</a:t>
            </a:r>
            <a:endParaRPr lang="vi-VN" dirty="0"/>
          </a:p>
        </p:txBody>
      </p:sp>
      <p:sp>
        <p:nvSpPr>
          <p:cNvPr id="8" name="TextBox 7">
            <a:extLst>
              <a:ext uri="{FF2B5EF4-FFF2-40B4-BE49-F238E27FC236}">
                <a16:creationId xmlns:a16="http://schemas.microsoft.com/office/drawing/2014/main" id="{C19CC4A6-49F7-1FC6-9091-0034E4DD4292}"/>
              </a:ext>
            </a:extLst>
          </p:cNvPr>
          <p:cNvSpPr txBox="1"/>
          <p:nvPr/>
        </p:nvSpPr>
        <p:spPr>
          <a:xfrm>
            <a:off x="8839200" y="5631424"/>
            <a:ext cx="1836616" cy="369332"/>
          </a:xfrm>
          <a:prstGeom prst="rect">
            <a:avLst/>
          </a:prstGeom>
          <a:noFill/>
        </p:spPr>
        <p:txBody>
          <a:bodyPr wrap="square" rtlCol="0">
            <a:spAutoFit/>
          </a:bodyPr>
          <a:lstStyle/>
          <a:p>
            <a:r>
              <a:rPr lang="en-US" dirty="0"/>
              <a:t>Lê Đức </a:t>
            </a:r>
            <a:r>
              <a:rPr lang="en-US" dirty="0" err="1"/>
              <a:t>Tường</a:t>
            </a:r>
            <a:endParaRPr lang="en-US" dirty="0"/>
          </a:p>
        </p:txBody>
      </p:sp>
      <p:sp>
        <p:nvSpPr>
          <p:cNvPr id="11" name="TextBox 10">
            <a:extLst>
              <a:ext uri="{FF2B5EF4-FFF2-40B4-BE49-F238E27FC236}">
                <a16:creationId xmlns:a16="http://schemas.microsoft.com/office/drawing/2014/main" id="{26ECFDC0-7FF2-AB70-8BAC-42783A533194}"/>
              </a:ext>
            </a:extLst>
          </p:cNvPr>
          <p:cNvSpPr txBox="1"/>
          <p:nvPr/>
        </p:nvSpPr>
        <p:spPr>
          <a:xfrm>
            <a:off x="7358184" y="3951906"/>
            <a:ext cx="4431323" cy="584775"/>
          </a:xfrm>
          <a:prstGeom prst="rect">
            <a:avLst/>
          </a:prstGeom>
          <a:noFill/>
        </p:spPr>
        <p:txBody>
          <a:bodyPr wrap="square" rtlCol="0">
            <a:spAutoFit/>
          </a:bodyPr>
          <a:lstStyle/>
          <a:p>
            <a:r>
              <a:rPr lang="en-US" sz="3200" dirty="0"/>
              <a:t>Thành Viên </a:t>
            </a:r>
            <a:r>
              <a:rPr lang="en-US" sz="3200" dirty="0" err="1"/>
              <a:t>Nhóm</a:t>
            </a:r>
            <a:r>
              <a:rPr lang="en-US" sz="3200" dirty="0"/>
              <a:t>:</a:t>
            </a:r>
            <a:endParaRPr lang="vi-VN"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Shape 0"/>
          <p:cNvSpPr/>
          <p:nvPr/>
        </p:nvSpPr>
        <p:spPr>
          <a:xfrm>
            <a:off x="661475" y="1225252"/>
            <a:ext cx="964581" cy="287139"/>
          </a:xfrm>
          <a:prstGeom prst="roundRect">
            <a:avLst>
              <a:gd name="adj" fmla="val 47396"/>
            </a:avLst>
          </a:prstGeom>
          <a:solidFill>
            <a:srgbClr val="D4F7F5"/>
          </a:solidFill>
          <a:ln/>
        </p:spPr>
        <p:txBody>
          <a:bodyPr/>
          <a:lstStyle/>
          <a:p>
            <a:endParaRPr lang="vi-VN"/>
          </a:p>
        </p:txBody>
      </p:sp>
      <p:sp>
        <p:nvSpPr>
          <p:cNvPr id="4" name="Text 1"/>
          <p:cNvSpPr/>
          <p:nvPr/>
        </p:nvSpPr>
        <p:spPr>
          <a:xfrm>
            <a:off x="774879" y="1281906"/>
            <a:ext cx="1347357" cy="173831"/>
          </a:xfrm>
          <a:prstGeom prst="rect">
            <a:avLst/>
          </a:prstGeom>
          <a:noFill/>
          <a:ln/>
        </p:spPr>
        <p:txBody>
          <a:bodyPr wrap="none" lIns="0" tIns="0" rIns="0" bIns="0" rtlCol="0" anchor="t"/>
          <a:lstStyle/>
          <a:p>
            <a:pPr marL="0" indent="0" algn="l">
              <a:lnSpc>
                <a:spcPct val="96000"/>
              </a:lnSpc>
              <a:buNone/>
            </a:pPr>
            <a:r>
              <a:rPr lang="en-US" sz="1150" dirty="0">
                <a:solidFill>
                  <a:srgbClr val="272525"/>
                </a:solidFill>
                <a:latin typeface="Manrope" pitchFamily="34" charset="0"/>
                <a:ea typeface="Manrope" pitchFamily="34" charset="-122"/>
                <a:cs typeface="Manrope" pitchFamily="34" charset="-120"/>
              </a:rPr>
              <a:t>GIỚI THIỆU</a:t>
            </a:r>
            <a:endParaRPr lang="en-US" sz="1150" dirty="0"/>
          </a:p>
        </p:txBody>
      </p:sp>
      <p:sp>
        <p:nvSpPr>
          <p:cNvPr id="5" name="Text 2"/>
          <p:cNvSpPr/>
          <p:nvPr/>
        </p:nvSpPr>
        <p:spPr>
          <a:xfrm>
            <a:off x="661475" y="1587996"/>
            <a:ext cx="6296860" cy="519807"/>
          </a:xfrm>
          <a:prstGeom prst="rect">
            <a:avLst/>
          </a:prstGeom>
          <a:noFill/>
          <a:ln/>
        </p:spPr>
        <p:txBody>
          <a:bodyPr wrap="none" lIns="0" tIns="0" rIns="0" bIns="0" rtlCol="0" anchor="t"/>
          <a:lstStyle/>
          <a:p>
            <a:pPr marL="0" indent="0" algn="l">
              <a:lnSpc>
                <a:spcPct val="92000"/>
              </a:lnSpc>
              <a:buNone/>
            </a:pPr>
            <a:r>
              <a:rPr lang="en-US" sz="3700" kern="0" spc="-112" dirty="0">
                <a:solidFill>
                  <a:srgbClr val="2F4F4F"/>
                </a:solidFill>
                <a:latin typeface="DM Sans Light" pitchFamily="34" charset="0"/>
                <a:ea typeface="DM Sans Light" pitchFamily="34" charset="-122"/>
                <a:cs typeface="DM Sans Light" pitchFamily="34" charset="-120"/>
              </a:rPr>
              <a:t>Giới Thiệu Dự Án</a:t>
            </a:r>
            <a:endParaRPr lang="en-US" sz="3700" dirty="0"/>
          </a:p>
        </p:txBody>
      </p:sp>
      <p:sp>
        <p:nvSpPr>
          <p:cNvPr id="6" name="Shape 3"/>
          <p:cNvSpPr/>
          <p:nvPr/>
        </p:nvSpPr>
        <p:spPr>
          <a:xfrm>
            <a:off x="661475" y="2391271"/>
            <a:ext cx="6296860" cy="1809750"/>
          </a:xfrm>
          <a:prstGeom prst="roundRect">
            <a:avLst>
              <a:gd name="adj" fmla="val 9400"/>
            </a:avLst>
          </a:prstGeom>
          <a:solidFill>
            <a:srgbClr val="D4F7F5"/>
          </a:solidFill>
          <a:ln/>
        </p:spPr>
        <p:txBody>
          <a:bodyPr/>
          <a:lstStyle/>
          <a:p>
            <a:endParaRPr lang="vi-VN"/>
          </a:p>
        </p:txBody>
      </p:sp>
      <p:sp>
        <p:nvSpPr>
          <p:cNvPr id="7" name="Text 4"/>
          <p:cNvSpPr/>
          <p:nvPr/>
        </p:nvSpPr>
        <p:spPr>
          <a:xfrm>
            <a:off x="850482" y="2580283"/>
            <a:ext cx="5918846"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ContactVIP là gì?</a:t>
            </a:r>
            <a:endParaRPr lang="en-US" sz="1850" dirty="0"/>
          </a:p>
        </p:txBody>
      </p:sp>
      <p:sp>
        <p:nvSpPr>
          <p:cNvPr id="8" name="Text 5"/>
          <p:cNvSpPr/>
          <p:nvPr/>
        </p:nvSpPr>
        <p:spPr>
          <a:xfrm>
            <a:off x="850482" y="2953544"/>
            <a:ext cx="5918846" cy="1058466"/>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272525"/>
                </a:solidFill>
                <a:latin typeface="Manrope" pitchFamily="34" charset="0"/>
                <a:ea typeface="Manrope" pitchFamily="34" charset="-122"/>
                <a:cs typeface="Manrope" pitchFamily="34" charset="-120"/>
              </a:rPr>
              <a:t>ContactVIP là ứng dụng mobile phát triển trên nền tảng Android, tập trung vào quản lý danh bạ hiện đại: lưu trữ liên hệ, đánh dấu yêu thích, tìm kiếm nhanh, quay số trực tiếp, lưu lịch sử cuộc gọi và tùy chỉnh giao diện sáng/tối.</a:t>
            </a:r>
            <a:endParaRPr lang="en-US" sz="1450" dirty="0"/>
          </a:p>
        </p:txBody>
      </p:sp>
      <p:sp>
        <p:nvSpPr>
          <p:cNvPr id="9" name="Text 6"/>
          <p:cNvSpPr/>
          <p:nvPr/>
        </p:nvSpPr>
        <p:spPr>
          <a:xfrm>
            <a:off x="944936" y="4626273"/>
            <a:ext cx="6013399" cy="793849"/>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272525"/>
                </a:solidFill>
                <a:latin typeface="Manrope" pitchFamily="34" charset="0"/>
                <a:ea typeface="Manrope" pitchFamily="34" charset="-122"/>
                <a:cs typeface="Manrope" pitchFamily="34" charset="-120"/>
              </a:rPr>
              <a:t>Mục tiêu của dự án: Xây dựng một ứng dụng giúp người dùng lưu trữ, tìm kiếm, quản lý liên hệ quan trọng, thực hiện cuộc gọi nhanh và theo dõi lịch sử cuộc gọi trong một giao diện trực quan.</a:t>
            </a:r>
            <a:endParaRPr lang="en-US" sz="1450" dirty="0"/>
          </a:p>
        </p:txBody>
      </p:sp>
      <p:sp>
        <p:nvSpPr>
          <p:cNvPr id="10" name="Shape 7"/>
          <p:cNvSpPr/>
          <p:nvPr/>
        </p:nvSpPr>
        <p:spPr>
          <a:xfrm>
            <a:off x="661475" y="4413647"/>
            <a:ext cx="25399" cy="1219101"/>
          </a:xfrm>
          <a:prstGeom prst="roundRect">
            <a:avLst>
              <a:gd name="adj" fmla="val 50001"/>
            </a:avLst>
          </a:prstGeom>
          <a:solidFill>
            <a:srgbClr val="28D3C9"/>
          </a:solidFill>
          <a:ln/>
        </p:spPr>
        <p:txBody>
          <a:bodyPr/>
          <a:lstStyle/>
          <a:p>
            <a:endParaRPr lang="vi-V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847130"/>
            <a:ext cx="876278" cy="287139"/>
          </a:xfrm>
          <a:prstGeom prst="roundRect">
            <a:avLst>
              <a:gd name="adj" fmla="val 47396"/>
            </a:avLst>
          </a:prstGeom>
          <a:solidFill>
            <a:srgbClr val="D4F7F5"/>
          </a:solidFill>
          <a:ln/>
        </p:spPr>
        <p:txBody>
          <a:bodyPr/>
          <a:lstStyle/>
          <a:p>
            <a:endParaRPr lang="vi-VN"/>
          </a:p>
        </p:txBody>
      </p:sp>
      <p:sp>
        <p:nvSpPr>
          <p:cNvPr id="3" name="Text 1"/>
          <p:cNvSpPr/>
          <p:nvPr/>
        </p:nvSpPr>
        <p:spPr>
          <a:xfrm>
            <a:off x="774879" y="903784"/>
            <a:ext cx="1259054" cy="173831"/>
          </a:xfrm>
          <a:prstGeom prst="rect">
            <a:avLst/>
          </a:prstGeom>
          <a:noFill/>
          <a:ln/>
        </p:spPr>
        <p:txBody>
          <a:bodyPr wrap="none" lIns="0" tIns="0" rIns="0" bIns="0" rtlCol="0" anchor="t"/>
          <a:lstStyle/>
          <a:p>
            <a:pPr marL="0" indent="0" algn="l">
              <a:lnSpc>
                <a:spcPct val="96000"/>
              </a:lnSpc>
              <a:buNone/>
            </a:pPr>
            <a:r>
              <a:rPr lang="en-US" sz="1150" dirty="0">
                <a:solidFill>
                  <a:srgbClr val="272525"/>
                </a:solidFill>
                <a:latin typeface="Manrope" pitchFamily="34" charset="0"/>
                <a:ea typeface="Manrope" pitchFamily="34" charset="-122"/>
                <a:cs typeface="Manrope" pitchFamily="34" charset="-120"/>
              </a:rPr>
              <a:t>BÀI TOÁN</a:t>
            </a:r>
            <a:endParaRPr lang="en-US" sz="1150" dirty="0"/>
          </a:p>
        </p:txBody>
      </p:sp>
      <p:sp>
        <p:nvSpPr>
          <p:cNvPr id="4" name="Text 2"/>
          <p:cNvSpPr/>
          <p:nvPr/>
        </p:nvSpPr>
        <p:spPr>
          <a:xfrm>
            <a:off x="661475" y="1209873"/>
            <a:ext cx="10868745" cy="519807"/>
          </a:xfrm>
          <a:prstGeom prst="rect">
            <a:avLst/>
          </a:prstGeom>
          <a:noFill/>
          <a:ln/>
        </p:spPr>
        <p:txBody>
          <a:bodyPr wrap="none" lIns="0" tIns="0" rIns="0" bIns="0" rtlCol="0" anchor="t"/>
          <a:lstStyle/>
          <a:p>
            <a:pPr marL="0" indent="0" algn="l">
              <a:lnSpc>
                <a:spcPct val="92000"/>
              </a:lnSpc>
              <a:buNone/>
            </a:pPr>
            <a:r>
              <a:rPr lang="en-US" sz="3700" kern="0" spc="-112" dirty="0">
                <a:solidFill>
                  <a:srgbClr val="2F4F4F"/>
                </a:solidFill>
                <a:latin typeface="DM Sans Light" pitchFamily="34" charset="0"/>
                <a:ea typeface="DM Sans Light" pitchFamily="34" charset="-122"/>
                <a:cs typeface="DM Sans Light" pitchFamily="34" charset="-120"/>
              </a:rPr>
              <a:t>Bài Toán Thực Tế</a:t>
            </a:r>
            <a:endParaRPr lang="en-US" sz="3700" dirty="0"/>
          </a:p>
        </p:txBody>
      </p:sp>
      <p:sp>
        <p:nvSpPr>
          <p:cNvPr id="5" name="Text 3"/>
          <p:cNvSpPr/>
          <p:nvPr/>
        </p:nvSpPr>
        <p:spPr>
          <a:xfrm>
            <a:off x="661475" y="2596753"/>
            <a:ext cx="3629331" cy="259854"/>
          </a:xfrm>
          <a:prstGeom prst="rect">
            <a:avLst/>
          </a:prstGeom>
          <a:noFill/>
          <a:ln/>
        </p:spPr>
        <p:txBody>
          <a:bodyPr wrap="none" lIns="0" tIns="0" rIns="0" bIns="0" rtlCol="0" anchor="t"/>
          <a:lstStyle/>
          <a:p>
            <a:pPr marL="0" indent="0" algn="r">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Quản lý khó khăn</a:t>
            </a:r>
            <a:endParaRPr lang="en-US" sz="1850" dirty="0"/>
          </a:p>
        </p:txBody>
      </p:sp>
      <p:sp>
        <p:nvSpPr>
          <p:cNvPr id="6" name="Text 4"/>
          <p:cNvSpPr/>
          <p:nvPr/>
        </p:nvSpPr>
        <p:spPr>
          <a:xfrm>
            <a:off x="661475" y="2970014"/>
            <a:ext cx="3629331" cy="793849"/>
          </a:xfrm>
          <a:prstGeom prst="rect">
            <a:avLst/>
          </a:prstGeom>
          <a:noFill/>
          <a:ln/>
        </p:spPr>
        <p:txBody>
          <a:bodyPr wrap="square" lIns="0" tIns="0" rIns="0" bIns="0" rtlCol="0" anchor="t">
            <a:normAutofit/>
          </a:bodyPr>
          <a:lstStyle/>
          <a:p>
            <a:pPr marL="0" indent="0" algn="r">
              <a:lnSpc>
                <a:spcPct val="117000"/>
              </a:lnSpc>
              <a:buNone/>
            </a:pPr>
            <a:r>
              <a:rPr lang="en-US" sz="1450" dirty="0">
                <a:solidFill>
                  <a:srgbClr val="272525"/>
                </a:solidFill>
                <a:latin typeface="Manrope" pitchFamily="34" charset="0"/>
                <a:ea typeface="Manrope" pitchFamily="34" charset="-122"/>
                <a:cs typeface="Manrope" pitchFamily="34" charset="-120"/>
              </a:rPr>
              <a:t>Người dùng cần công cụ đơn giản để quản lý danh bạ cá nhân một cách khoa học và có tổ chức.</a:t>
            </a:r>
            <a:endParaRPr lang="en-US" sz="1450" dirty="0"/>
          </a:p>
        </p:txBody>
      </p:sp>
      <p:pic>
        <p:nvPicPr>
          <p:cNvPr id="7" name="Image 0" descr="preencoded.png"/>
          <p:cNvPicPr>
            <a:picLocks noChangeAspect="1"/>
          </p:cNvPicPr>
          <p:nvPr/>
        </p:nvPicPr>
        <p:blipFill>
          <a:blip r:embed="rId3"/>
          <a:stretch>
            <a:fillRect/>
          </a:stretch>
        </p:blipFill>
        <p:spPr>
          <a:xfrm>
            <a:off x="4574267" y="2490391"/>
            <a:ext cx="3043161" cy="3043238"/>
          </a:xfrm>
          <a:prstGeom prst="rect">
            <a:avLst/>
          </a:prstGeom>
        </p:spPr>
      </p:pic>
      <p:sp>
        <p:nvSpPr>
          <p:cNvPr id="8" name="Shape 5"/>
          <p:cNvSpPr/>
          <p:nvPr/>
        </p:nvSpPr>
        <p:spPr>
          <a:xfrm>
            <a:off x="4823994" y="2740124"/>
            <a:ext cx="472468" cy="472480"/>
          </a:xfrm>
          <a:prstGeom prst="ellipse">
            <a:avLst/>
          </a:prstGeom>
          <a:solidFill>
            <a:srgbClr val="7FFFD4"/>
          </a:solidFill>
          <a:ln/>
        </p:spPr>
        <p:txBody>
          <a:bodyPr/>
          <a:lstStyle/>
          <a:p>
            <a:endParaRPr lang="vi-VN"/>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53868" y="2870002"/>
            <a:ext cx="212620" cy="212626"/>
          </a:xfrm>
          <a:prstGeom prst="rect">
            <a:avLst/>
          </a:prstGeom>
        </p:spPr>
      </p:pic>
      <p:sp>
        <p:nvSpPr>
          <p:cNvPr id="10" name="Text 6"/>
          <p:cNvSpPr/>
          <p:nvPr/>
        </p:nvSpPr>
        <p:spPr>
          <a:xfrm>
            <a:off x="7900889" y="2596753"/>
            <a:ext cx="3629331"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Tìm kiếm mất thời gian</a:t>
            </a:r>
            <a:endParaRPr lang="en-US" sz="1850" dirty="0"/>
          </a:p>
        </p:txBody>
      </p:sp>
      <p:sp>
        <p:nvSpPr>
          <p:cNvPr id="11" name="Text 7"/>
          <p:cNvSpPr/>
          <p:nvPr/>
        </p:nvSpPr>
        <p:spPr>
          <a:xfrm>
            <a:off x="7900889" y="2970014"/>
            <a:ext cx="3629331" cy="793849"/>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272525"/>
                </a:solidFill>
                <a:latin typeface="Manrope" pitchFamily="34" charset="0"/>
                <a:ea typeface="Manrope" pitchFamily="34" charset="-122"/>
                <a:cs typeface="Manrope" pitchFamily="34" charset="-120"/>
              </a:rPr>
              <a:t>Việc tìm kiếm liên hệ trong danh sách dài thường tốn nhiều thời gian, gây bất tiện cho người dùng.</a:t>
            </a:r>
            <a:endParaRPr lang="en-US" sz="1450" dirty="0"/>
          </a:p>
        </p:txBody>
      </p:sp>
      <p:pic>
        <p:nvPicPr>
          <p:cNvPr id="12" name="Image 2" descr="preencoded.png"/>
          <p:cNvPicPr>
            <a:picLocks noChangeAspect="1"/>
          </p:cNvPicPr>
          <p:nvPr/>
        </p:nvPicPr>
        <p:blipFill>
          <a:blip r:embed="rId5"/>
          <a:stretch>
            <a:fillRect/>
          </a:stretch>
        </p:blipFill>
        <p:spPr>
          <a:xfrm>
            <a:off x="4574267" y="2490391"/>
            <a:ext cx="3043161" cy="3043238"/>
          </a:xfrm>
          <a:prstGeom prst="rect">
            <a:avLst/>
          </a:prstGeom>
        </p:spPr>
      </p:pic>
      <p:sp>
        <p:nvSpPr>
          <p:cNvPr id="13" name="Shape 8"/>
          <p:cNvSpPr/>
          <p:nvPr/>
        </p:nvSpPr>
        <p:spPr>
          <a:xfrm>
            <a:off x="6895134" y="2740124"/>
            <a:ext cx="472468" cy="472480"/>
          </a:xfrm>
          <a:prstGeom prst="ellipse">
            <a:avLst/>
          </a:prstGeom>
          <a:solidFill>
            <a:srgbClr val="28D3C9"/>
          </a:solidFill>
          <a:ln/>
        </p:spPr>
        <p:txBody>
          <a:bodyPr/>
          <a:lstStyle/>
          <a:p>
            <a:endParaRPr lang="vi-VN"/>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25008" y="2870002"/>
            <a:ext cx="212620" cy="212626"/>
          </a:xfrm>
          <a:prstGeom prst="rect">
            <a:avLst/>
          </a:prstGeom>
        </p:spPr>
      </p:pic>
      <p:sp>
        <p:nvSpPr>
          <p:cNvPr id="15" name="Text 9"/>
          <p:cNvSpPr/>
          <p:nvPr/>
        </p:nvSpPr>
        <p:spPr>
          <a:xfrm>
            <a:off x="7900889" y="4260056"/>
            <a:ext cx="3629331"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Gọi điện chậm</a:t>
            </a:r>
            <a:endParaRPr lang="en-US" sz="1850" dirty="0"/>
          </a:p>
        </p:txBody>
      </p:sp>
      <p:sp>
        <p:nvSpPr>
          <p:cNvPr id="16" name="Text 10"/>
          <p:cNvSpPr/>
          <p:nvPr/>
        </p:nvSpPr>
        <p:spPr>
          <a:xfrm>
            <a:off x="7900889" y="4633317"/>
            <a:ext cx="3629331" cy="793849"/>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272525"/>
                </a:solidFill>
                <a:latin typeface="Manrope" pitchFamily="34" charset="0"/>
                <a:ea typeface="Manrope" pitchFamily="34" charset="-122"/>
                <a:cs typeface="Manrope" pitchFamily="34" charset="-120"/>
              </a:rPr>
              <a:t>Nhu cầu gọi điện nhanh cho các liên hệ quan trọng rất phổ biến nhưng chưa được đáp ứng tốt.</a:t>
            </a:r>
            <a:endParaRPr lang="en-US" sz="1450" dirty="0"/>
          </a:p>
        </p:txBody>
      </p:sp>
      <p:pic>
        <p:nvPicPr>
          <p:cNvPr id="17" name="Image 4" descr="preencoded.png"/>
          <p:cNvPicPr>
            <a:picLocks noChangeAspect="1"/>
          </p:cNvPicPr>
          <p:nvPr/>
        </p:nvPicPr>
        <p:blipFill>
          <a:blip r:embed="rId7"/>
          <a:stretch>
            <a:fillRect/>
          </a:stretch>
        </p:blipFill>
        <p:spPr>
          <a:xfrm>
            <a:off x="4574267" y="2490391"/>
            <a:ext cx="3043161" cy="3043238"/>
          </a:xfrm>
          <a:prstGeom prst="rect">
            <a:avLst/>
          </a:prstGeom>
        </p:spPr>
      </p:pic>
      <p:sp>
        <p:nvSpPr>
          <p:cNvPr id="18" name="Shape 11"/>
          <p:cNvSpPr/>
          <p:nvPr/>
        </p:nvSpPr>
        <p:spPr>
          <a:xfrm>
            <a:off x="6895134" y="4811316"/>
            <a:ext cx="472468" cy="472480"/>
          </a:xfrm>
          <a:prstGeom prst="ellipse">
            <a:avLst/>
          </a:prstGeom>
          <a:solidFill>
            <a:srgbClr val="6F8F99"/>
          </a:solidFill>
          <a:ln/>
        </p:spPr>
        <p:txBody>
          <a:bodyPr/>
          <a:lstStyle/>
          <a:p>
            <a:endParaRPr lang="vi-VN"/>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025008" y="4941193"/>
            <a:ext cx="212620" cy="212626"/>
          </a:xfrm>
          <a:prstGeom prst="rect">
            <a:avLst/>
          </a:prstGeom>
        </p:spPr>
      </p:pic>
      <p:sp>
        <p:nvSpPr>
          <p:cNvPr id="20" name="Text 12"/>
          <p:cNvSpPr/>
          <p:nvPr/>
        </p:nvSpPr>
        <p:spPr>
          <a:xfrm>
            <a:off x="661475" y="4260056"/>
            <a:ext cx="3629331" cy="259854"/>
          </a:xfrm>
          <a:prstGeom prst="rect">
            <a:avLst/>
          </a:prstGeom>
          <a:noFill/>
          <a:ln/>
        </p:spPr>
        <p:txBody>
          <a:bodyPr wrap="none" lIns="0" tIns="0" rIns="0" bIns="0" rtlCol="0" anchor="t"/>
          <a:lstStyle/>
          <a:p>
            <a:pPr marL="0" indent="0" algn="r">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Không có lịch sử</a:t>
            </a:r>
            <a:endParaRPr lang="en-US" sz="1850" dirty="0"/>
          </a:p>
        </p:txBody>
      </p:sp>
      <p:sp>
        <p:nvSpPr>
          <p:cNvPr id="21" name="Text 13"/>
          <p:cNvSpPr/>
          <p:nvPr/>
        </p:nvSpPr>
        <p:spPr>
          <a:xfrm>
            <a:off x="661475" y="4633317"/>
            <a:ext cx="3629331" cy="793849"/>
          </a:xfrm>
          <a:prstGeom prst="rect">
            <a:avLst/>
          </a:prstGeom>
          <a:noFill/>
          <a:ln/>
        </p:spPr>
        <p:txBody>
          <a:bodyPr wrap="square" lIns="0" tIns="0" rIns="0" bIns="0" rtlCol="0" anchor="t">
            <a:normAutofit/>
          </a:bodyPr>
          <a:lstStyle/>
          <a:p>
            <a:pPr marL="0" indent="0" algn="r">
              <a:lnSpc>
                <a:spcPct val="117000"/>
              </a:lnSpc>
              <a:buNone/>
            </a:pPr>
            <a:r>
              <a:rPr lang="en-US" sz="1450" dirty="0">
                <a:solidFill>
                  <a:srgbClr val="272525"/>
                </a:solidFill>
                <a:latin typeface="Manrope" pitchFamily="34" charset="0"/>
                <a:ea typeface="Manrope" pitchFamily="34" charset="-122"/>
                <a:cs typeface="Manrope" pitchFamily="34" charset="-120"/>
              </a:rPr>
              <a:t>Cần lưu lại lịch sử cuộc gọi để tiện theo dõi các lần liên lạc gần đây một cách dễ dàng.</a:t>
            </a:r>
            <a:endParaRPr lang="en-US" sz="1450" dirty="0"/>
          </a:p>
        </p:txBody>
      </p:sp>
      <p:pic>
        <p:nvPicPr>
          <p:cNvPr id="22" name="Image 6" descr="preencoded.png"/>
          <p:cNvPicPr>
            <a:picLocks noChangeAspect="1"/>
          </p:cNvPicPr>
          <p:nvPr/>
        </p:nvPicPr>
        <p:blipFill>
          <a:blip r:embed="rId9"/>
          <a:stretch>
            <a:fillRect/>
          </a:stretch>
        </p:blipFill>
        <p:spPr>
          <a:xfrm>
            <a:off x="4574267" y="2490391"/>
            <a:ext cx="3043161" cy="3043238"/>
          </a:xfrm>
          <a:prstGeom prst="rect">
            <a:avLst/>
          </a:prstGeom>
        </p:spPr>
      </p:pic>
      <p:sp>
        <p:nvSpPr>
          <p:cNvPr id="23" name="Shape 14"/>
          <p:cNvSpPr/>
          <p:nvPr/>
        </p:nvSpPr>
        <p:spPr>
          <a:xfrm>
            <a:off x="4823994" y="4811316"/>
            <a:ext cx="472468" cy="472480"/>
          </a:xfrm>
          <a:prstGeom prst="ellipse">
            <a:avLst/>
          </a:prstGeom>
          <a:solidFill>
            <a:srgbClr val="2F4F4F"/>
          </a:solidFill>
          <a:ln/>
        </p:spPr>
        <p:txBody>
          <a:bodyPr/>
          <a:lstStyle/>
          <a:p>
            <a:endParaRPr lang="vi-VN"/>
          </a:p>
        </p:txBody>
      </p:sp>
      <p:pic>
        <p:nvPicPr>
          <p:cNvPr id="24"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953868" y="4941193"/>
            <a:ext cx="212620" cy="2126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519807"/>
            <a:ext cx="911599" cy="287139"/>
          </a:xfrm>
          <a:prstGeom prst="roundRect">
            <a:avLst>
              <a:gd name="adj" fmla="val 47396"/>
            </a:avLst>
          </a:prstGeom>
          <a:solidFill>
            <a:srgbClr val="D4F7F5"/>
          </a:solidFill>
          <a:ln/>
        </p:spPr>
        <p:txBody>
          <a:bodyPr/>
          <a:lstStyle/>
          <a:p>
            <a:endParaRPr lang="vi-VN"/>
          </a:p>
        </p:txBody>
      </p:sp>
      <p:sp>
        <p:nvSpPr>
          <p:cNvPr id="3" name="Text 1"/>
          <p:cNvSpPr/>
          <p:nvPr/>
        </p:nvSpPr>
        <p:spPr>
          <a:xfrm>
            <a:off x="774879" y="576461"/>
            <a:ext cx="1294375" cy="173831"/>
          </a:xfrm>
          <a:prstGeom prst="rect">
            <a:avLst/>
          </a:prstGeom>
          <a:noFill/>
          <a:ln/>
        </p:spPr>
        <p:txBody>
          <a:bodyPr wrap="none" lIns="0" tIns="0" rIns="0" bIns="0" rtlCol="0" anchor="t"/>
          <a:lstStyle/>
          <a:p>
            <a:pPr marL="0" indent="0" algn="l">
              <a:lnSpc>
                <a:spcPct val="96000"/>
              </a:lnSpc>
              <a:buNone/>
            </a:pPr>
            <a:r>
              <a:rPr lang="en-US" sz="1150" dirty="0">
                <a:solidFill>
                  <a:srgbClr val="272525"/>
                </a:solidFill>
                <a:latin typeface="Manrope" pitchFamily="34" charset="0"/>
                <a:ea typeface="Manrope" pitchFamily="34" charset="-122"/>
                <a:cs typeface="Manrope" pitchFamily="34" charset="-120"/>
              </a:rPr>
              <a:t>GIẢI PHÁP</a:t>
            </a:r>
            <a:endParaRPr lang="en-US" sz="1150" dirty="0"/>
          </a:p>
        </p:txBody>
      </p:sp>
      <p:sp>
        <p:nvSpPr>
          <p:cNvPr id="4" name="Text 2"/>
          <p:cNvSpPr/>
          <p:nvPr/>
        </p:nvSpPr>
        <p:spPr>
          <a:xfrm>
            <a:off x="661475" y="882551"/>
            <a:ext cx="10868745" cy="519807"/>
          </a:xfrm>
          <a:prstGeom prst="rect">
            <a:avLst/>
          </a:prstGeom>
          <a:noFill/>
          <a:ln/>
        </p:spPr>
        <p:txBody>
          <a:bodyPr wrap="none" lIns="0" tIns="0" rIns="0" bIns="0" rtlCol="0" anchor="t"/>
          <a:lstStyle/>
          <a:p>
            <a:pPr marL="0" indent="0" algn="l">
              <a:lnSpc>
                <a:spcPct val="92000"/>
              </a:lnSpc>
              <a:buNone/>
            </a:pPr>
            <a:r>
              <a:rPr lang="en-US" sz="3700" kern="0" spc="-112" dirty="0">
                <a:solidFill>
                  <a:srgbClr val="2F4F4F"/>
                </a:solidFill>
                <a:latin typeface="DM Sans Light" pitchFamily="34" charset="0"/>
                <a:ea typeface="DM Sans Light" pitchFamily="34" charset="-122"/>
                <a:cs typeface="DM Sans Light" pitchFamily="34" charset="-120"/>
              </a:rPr>
              <a:t>Giải Pháp &amp; Mục Tiêu Hệ Thống</a:t>
            </a:r>
            <a:endParaRPr lang="en-US" sz="3700" dirty="0"/>
          </a:p>
        </p:txBody>
      </p:sp>
      <p:pic>
        <p:nvPicPr>
          <p:cNvPr id="5" name="Image 0" descr="preencoded.png"/>
          <p:cNvPicPr>
            <a:picLocks noChangeAspect="1"/>
          </p:cNvPicPr>
          <p:nvPr/>
        </p:nvPicPr>
        <p:blipFill>
          <a:blip r:embed="rId3"/>
          <a:stretch>
            <a:fillRect/>
          </a:stretch>
        </p:blipFill>
        <p:spPr>
          <a:xfrm>
            <a:off x="661475" y="1898452"/>
            <a:ext cx="8602745" cy="2713236"/>
          </a:xfrm>
          <a:prstGeom prst="rect">
            <a:avLst/>
          </a:prstGeom>
        </p:spPr>
      </p:pic>
      <p:sp>
        <p:nvSpPr>
          <p:cNvPr id="6" name="Text 3"/>
          <p:cNvSpPr/>
          <p:nvPr/>
        </p:nvSpPr>
        <p:spPr>
          <a:xfrm>
            <a:off x="1550302" y="2787856"/>
            <a:ext cx="713448" cy="239890"/>
          </a:xfrm>
          <a:prstGeom prst="rect">
            <a:avLst/>
          </a:prstGeom>
          <a:noFill/>
          <a:ln/>
        </p:spPr>
        <p:txBody>
          <a:bodyPr wrap="none" lIns="0" tIns="0" rIns="0" bIns="0" rtlCol="0" anchor="t"/>
          <a:lstStyle/>
          <a:p>
            <a:pPr marL="0" indent="0" algn="ctr">
              <a:lnSpc>
                <a:spcPct val="92000"/>
              </a:lnSpc>
              <a:buNone/>
            </a:pPr>
            <a:r>
              <a:rPr lang="en-US" sz="1450" b="1" kern="0" spc="-44" dirty="0">
                <a:solidFill>
                  <a:srgbClr val="2F4F4F"/>
                </a:solidFill>
                <a:latin typeface="DM Sans Bold" pitchFamily="34" charset="0"/>
                <a:ea typeface="DM Sans Bold" pitchFamily="34" charset="-122"/>
                <a:cs typeface="DM Sans Bold" pitchFamily="34" charset="-120"/>
              </a:rPr>
              <a:t>Tổ chức</a:t>
            </a:r>
            <a:endParaRPr lang="en-US" sz="1450" dirty="0"/>
          </a:p>
        </p:txBody>
      </p:sp>
      <p:sp>
        <p:nvSpPr>
          <p:cNvPr id="7" name="Text 4"/>
          <p:cNvSpPr/>
          <p:nvPr/>
        </p:nvSpPr>
        <p:spPr>
          <a:xfrm>
            <a:off x="1153641" y="3083582"/>
            <a:ext cx="1506771" cy="614201"/>
          </a:xfrm>
          <a:prstGeom prst="rect">
            <a:avLst/>
          </a:prstGeom>
          <a:noFill/>
          <a:ln/>
        </p:spPr>
        <p:txBody>
          <a:bodyPr wrap="square" lIns="0" tIns="0" rIns="0" bIns="0" rtlCol="0" anchor="t">
            <a:normAutofit/>
          </a:bodyPr>
          <a:lstStyle/>
          <a:p>
            <a:pPr marL="0" indent="0" algn="ctr">
              <a:lnSpc>
                <a:spcPct val="92000"/>
              </a:lnSpc>
              <a:buNone/>
            </a:pPr>
            <a:r>
              <a:rPr lang="en-US" sz="1450" kern="0" spc="-44" dirty="0">
                <a:solidFill>
                  <a:srgbClr val="2F4F4F"/>
                </a:solidFill>
                <a:latin typeface="DM Sans Light" pitchFamily="34" charset="0"/>
                <a:ea typeface="DM Sans Light" pitchFamily="34" charset="-122"/>
                <a:cs typeface="DM Sans Light" pitchFamily="34" charset="-120"/>
              </a:rPr>
              <a:t>Danh bạ theo danh sách rõ ràng, dễ điều hướng.</a:t>
            </a:r>
            <a:endParaRPr lang="en-US" sz="1450" dirty="0"/>
          </a:p>
        </p:txBody>
      </p:sp>
      <p:sp>
        <p:nvSpPr>
          <p:cNvPr id="8" name="Text 5"/>
          <p:cNvSpPr/>
          <p:nvPr/>
        </p:nvSpPr>
        <p:spPr>
          <a:xfrm>
            <a:off x="3576261" y="2787856"/>
            <a:ext cx="780786" cy="239890"/>
          </a:xfrm>
          <a:prstGeom prst="rect">
            <a:avLst/>
          </a:prstGeom>
          <a:noFill/>
          <a:ln/>
        </p:spPr>
        <p:txBody>
          <a:bodyPr wrap="none" lIns="0" tIns="0" rIns="0" bIns="0" rtlCol="0" anchor="t"/>
          <a:lstStyle/>
          <a:p>
            <a:pPr marL="0" indent="0" algn="ctr">
              <a:lnSpc>
                <a:spcPct val="92000"/>
              </a:lnSpc>
              <a:buNone/>
            </a:pPr>
            <a:r>
              <a:rPr lang="en-US" sz="1450" b="1" kern="0" spc="-44" dirty="0">
                <a:solidFill>
                  <a:srgbClr val="2F4F4F"/>
                </a:solidFill>
                <a:latin typeface="DM Sans Bold" pitchFamily="34" charset="0"/>
                <a:ea typeface="DM Sans Bold" pitchFamily="34" charset="-122"/>
                <a:cs typeface="DM Sans Bold" pitchFamily="34" charset="-120"/>
              </a:rPr>
              <a:t>Tìm kiếm</a:t>
            </a:r>
            <a:endParaRPr lang="en-US" sz="1450" dirty="0"/>
          </a:p>
        </p:txBody>
      </p:sp>
      <p:sp>
        <p:nvSpPr>
          <p:cNvPr id="9" name="Text 6"/>
          <p:cNvSpPr/>
          <p:nvPr/>
        </p:nvSpPr>
        <p:spPr>
          <a:xfrm>
            <a:off x="3213333" y="3083582"/>
            <a:ext cx="1506771" cy="614201"/>
          </a:xfrm>
          <a:prstGeom prst="rect">
            <a:avLst/>
          </a:prstGeom>
          <a:noFill/>
          <a:ln/>
        </p:spPr>
        <p:txBody>
          <a:bodyPr wrap="square" lIns="0" tIns="0" rIns="0" bIns="0" rtlCol="0" anchor="t">
            <a:normAutofit/>
          </a:bodyPr>
          <a:lstStyle/>
          <a:p>
            <a:pPr marL="0" indent="0" algn="ctr">
              <a:lnSpc>
                <a:spcPct val="92000"/>
              </a:lnSpc>
              <a:buNone/>
            </a:pPr>
            <a:r>
              <a:rPr lang="en-US" sz="1450" kern="0" spc="-44" dirty="0">
                <a:solidFill>
                  <a:srgbClr val="2F4F4F"/>
                </a:solidFill>
                <a:latin typeface="DM Sans Light" pitchFamily="34" charset="0"/>
                <a:ea typeface="DM Sans Light" pitchFamily="34" charset="-122"/>
                <a:cs typeface="DM Sans Light" pitchFamily="34" charset="-120"/>
              </a:rPr>
              <a:t>Theo tên hoặc thông tin liên quan nhanh chóng.</a:t>
            </a:r>
            <a:endParaRPr lang="en-US" sz="1450" dirty="0"/>
          </a:p>
        </p:txBody>
      </p:sp>
      <p:sp>
        <p:nvSpPr>
          <p:cNvPr id="10" name="Text 7"/>
          <p:cNvSpPr/>
          <p:nvPr/>
        </p:nvSpPr>
        <p:spPr>
          <a:xfrm>
            <a:off x="5620444" y="2787856"/>
            <a:ext cx="695999" cy="239890"/>
          </a:xfrm>
          <a:prstGeom prst="rect">
            <a:avLst/>
          </a:prstGeom>
          <a:noFill/>
          <a:ln/>
        </p:spPr>
        <p:txBody>
          <a:bodyPr wrap="none" lIns="0" tIns="0" rIns="0" bIns="0" rtlCol="0" anchor="t"/>
          <a:lstStyle/>
          <a:p>
            <a:pPr marL="0" indent="0" algn="ctr">
              <a:lnSpc>
                <a:spcPct val="92000"/>
              </a:lnSpc>
              <a:buNone/>
            </a:pPr>
            <a:r>
              <a:rPr lang="en-US" sz="1450" b="1" kern="0" spc="-44" dirty="0">
                <a:solidFill>
                  <a:srgbClr val="2F4F4F"/>
                </a:solidFill>
                <a:latin typeface="DM Sans Bold" pitchFamily="34" charset="0"/>
                <a:ea typeface="DM Sans Bold" pitchFamily="34" charset="-122"/>
                <a:cs typeface="DM Sans Bold" pitchFamily="34" charset="-120"/>
              </a:rPr>
              <a:t>Quay số</a:t>
            </a:r>
            <a:endParaRPr lang="en-US" sz="1450" dirty="0"/>
          </a:p>
        </p:txBody>
      </p:sp>
      <p:sp>
        <p:nvSpPr>
          <p:cNvPr id="11" name="Text 8"/>
          <p:cNvSpPr/>
          <p:nvPr/>
        </p:nvSpPr>
        <p:spPr>
          <a:xfrm>
            <a:off x="5215123" y="3083582"/>
            <a:ext cx="1506770" cy="614201"/>
          </a:xfrm>
          <a:prstGeom prst="rect">
            <a:avLst/>
          </a:prstGeom>
          <a:noFill/>
          <a:ln/>
        </p:spPr>
        <p:txBody>
          <a:bodyPr wrap="square" lIns="0" tIns="0" rIns="0" bIns="0" rtlCol="0" anchor="t">
            <a:normAutofit/>
          </a:bodyPr>
          <a:lstStyle/>
          <a:p>
            <a:pPr marL="0" indent="0" algn="ctr">
              <a:lnSpc>
                <a:spcPct val="92000"/>
              </a:lnSpc>
              <a:buNone/>
            </a:pPr>
            <a:r>
              <a:rPr lang="en-US" sz="1450" kern="0" spc="-44" dirty="0">
                <a:solidFill>
                  <a:srgbClr val="2F4F4F"/>
                </a:solidFill>
                <a:latin typeface="DM Sans Light" pitchFamily="34" charset="0"/>
                <a:ea typeface="DM Sans Light" pitchFamily="34" charset="-122"/>
                <a:cs typeface="DM Sans Light" pitchFamily="34" charset="-120"/>
              </a:rPr>
              <a:t>Bàn phím số tích hợp để gọi điện tức thì.</a:t>
            </a:r>
            <a:endParaRPr lang="en-US" sz="1450" dirty="0"/>
          </a:p>
        </p:txBody>
      </p:sp>
      <p:sp>
        <p:nvSpPr>
          <p:cNvPr id="12" name="Text 9"/>
          <p:cNvSpPr/>
          <p:nvPr/>
        </p:nvSpPr>
        <p:spPr>
          <a:xfrm>
            <a:off x="7686470" y="2890223"/>
            <a:ext cx="633831" cy="239890"/>
          </a:xfrm>
          <a:prstGeom prst="rect">
            <a:avLst/>
          </a:prstGeom>
          <a:noFill/>
          <a:ln/>
        </p:spPr>
        <p:txBody>
          <a:bodyPr wrap="none" lIns="0" tIns="0" rIns="0" bIns="0" rtlCol="0" anchor="t"/>
          <a:lstStyle/>
          <a:p>
            <a:pPr marL="0" indent="0" algn="ctr">
              <a:lnSpc>
                <a:spcPct val="92000"/>
              </a:lnSpc>
              <a:buNone/>
            </a:pPr>
            <a:r>
              <a:rPr lang="en-US" sz="1450" b="1" kern="0" spc="-44" dirty="0">
                <a:solidFill>
                  <a:srgbClr val="2F4F4F"/>
                </a:solidFill>
                <a:latin typeface="DM Sans Bold" pitchFamily="34" charset="0"/>
                <a:ea typeface="DM Sans Bold" pitchFamily="34" charset="-122"/>
                <a:cs typeface="DM Sans Bold" pitchFamily="34" charset="-120"/>
              </a:rPr>
              <a:t>Lịch sử</a:t>
            </a:r>
            <a:endParaRPr lang="en-US" sz="1450" dirty="0"/>
          </a:p>
        </p:txBody>
      </p:sp>
      <p:sp>
        <p:nvSpPr>
          <p:cNvPr id="13" name="Text 10"/>
          <p:cNvSpPr/>
          <p:nvPr/>
        </p:nvSpPr>
        <p:spPr>
          <a:xfrm>
            <a:off x="7249999" y="3185949"/>
            <a:ext cx="1506771" cy="409467"/>
          </a:xfrm>
          <a:prstGeom prst="rect">
            <a:avLst/>
          </a:prstGeom>
          <a:noFill/>
          <a:ln/>
        </p:spPr>
        <p:txBody>
          <a:bodyPr wrap="square" lIns="0" tIns="0" rIns="0" bIns="0" rtlCol="0" anchor="t">
            <a:normAutofit/>
          </a:bodyPr>
          <a:lstStyle/>
          <a:p>
            <a:pPr marL="0" indent="0" algn="ctr">
              <a:lnSpc>
                <a:spcPct val="92000"/>
              </a:lnSpc>
              <a:buNone/>
            </a:pPr>
            <a:r>
              <a:rPr lang="en-US" sz="1450" kern="0" spc="-44" dirty="0">
                <a:solidFill>
                  <a:srgbClr val="2F4F4F"/>
                </a:solidFill>
                <a:latin typeface="DM Sans Light" pitchFamily="34" charset="0"/>
                <a:ea typeface="DM Sans Light" pitchFamily="34" charset="-122"/>
                <a:cs typeface="DM Sans Light" pitchFamily="34" charset="-120"/>
              </a:rPr>
              <a:t>Tự động lưu cuộc gọi đi để theo dõi.</a:t>
            </a:r>
            <a:endParaRPr lang="en-US" sz="1450" dirty="0"/>
          </a:p>
        </p:txBody>
      </p:sp>
      <p:sp>
        <p:nvSpPr>
          <p:cNvPr id="14" name="Shape 11"/>
          <p:cNvSpPr/>
          <p:nvPr/>
        </p:nvSpPr>
        <p:spPr>
          <a:xfrm>
            <a:off x="9731727" y="2614513"/>
            <a:ext cx="1804744" cy="1281113"/>
          </a:xfrm>
          <a:prstGeom prst="roundRect">
            <a:avLst>
              <a:gd name="adj" fmla="val 13279"/>
            </a:avLst>
          </a:prstGeom>
          <a:solidFill>
            <a:srgbClr val="6F8F99"/>
          </a:solidFill>
          <a:ln/>
        </p:spPr>
        <p:txBody>
          <a:bodyPr/>
          <a:lstStyle/>
          <a:p>
            <a:endParaRPr lang="vi-VN"/>
          </a:p>
        </p:txBody>
      </p:sp>
      <p:sp>
        <p:nvSpPr>
          <p:cNvPr id="15" name="Text 12"/>
          <p:cNvSpPr/>
          <p:nvPr/>
        </p:nvSpPr>
        <p:spPr>
          <a:xfrm>
            <a:off x="9920734" y="2831802"/>
            <a:ext cx="1426730" cy="846534"/>
          </a:xfrm>
          <a:prstGeom prst="rect">
            <a:avLst/>
          </a:prstGeom>
          <a:noFill/>
          <a:ln/>
        </p:spPr>
        <p:txBody>
          <a:bodyPr wrap="square" lIns="0" tIns="0" rIns="0" bIns="0" rtlCol="0" anchor="t">
            <a:normAutofit/>
          </a:bodyPr>
          <a:lstStyle/>
          <a:p>
            <a:pPr marL="0" indent="0" algn="l">
              <a:lnSpc>
                <a:spcPct val="117000"/>
              </a:lnSpc>
              <a:buNone/>
            </a:pPr>
            <a:r>
              <a:rPr lang="en-US" sz="1150" dirty="0">
                <a:solidFill>
                  <a:srgbClr val="FFFFFF"/>
                </a:solidFill>
                <a:latin typeface="Manrope" pitchFamily="34" charset="0"/>
                <a:ea typeface="Manrope" pitchFamily="34" charset="-122"/>
                <a:cs typeface="Manrope" pitchFamily="34" charset="-120"/>
              </a:rPr>
              <a:t>Hỗ trợ danh sách yêu thích và thay đổi giao diện theo sở thích người dùng.</a:t>
            </a:r>
            <a:endParaRPr lang="en-US" sz="1150" dirty="0"/>
          </a:p>
        </p:txBody>
      </p:sp>
      <p:sp>
        <p:nvSpPr>
          <p:cNvPr id="16" name="Shape 13"/>
          <p:cNvSpPr/>
          <p:nvPr/>
        </p:nvSpPr>
        <p:spPr>
          <a:xfrm>
            <a:off x="661475" y="5036939"/>
            <a:ext cx="425241" cy="425252"/>
          </a:xfrm>
          <a:prstGeom prst="roundRect">
            <a:avLst>
              <a:gd name="adj" fmla="val 40005"/>
            </a:avLst>
          </a:prstGeom>
          <a:solidFill>
            <a:srgbClr val="D4F7F5"/>
          </a:solidFill>
          <a:ln/>
        </p:spPr>
        <p:txBody>
          <a:bodyPr/>
          <a:lstStyle/>
          <a:p>
            <a:endParaRPr lang="vi-VN"/>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2365" y="5107831"/>
            <a:ext cx="283461" cy="283468"/>
          </a:xfrm>
          <a:prstGeom prst="rect">
            <a:avLst/>
          </a:prstGeom>
        </p:spPr>
      </p:pic>
      <p:sp>
        <p:nvSpPr>
          <p:cNvPr id="18" name="Text 14"/>
          <p:cNvSpPr/>
          <p:nvPr/>
        </p:nvSpPr>
        <p:spPr>
          <a:xfrm>
            <a:off x="1275723" y="5119588"/>
            <a:ext cx="2851178"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Quản lý thông tin liên hệ</a:t>
            </a:r>
            <a:endParaRPr lang="en-US" sz="1850" dirty="0"/>
          </a:p>
        </p:txBody>
      </p:sp>
      <p:sp>
        <p:nvSpPr>
          <p:cNvPr id="19" name="Text 15"/>
          <p:cNvSpPr/>
          <p:nvPr/>
        </p:nvSpPr>
        <p:spPr>
          <a:xfrm>
            <a:off x="1275723" y="5492849"/>
            <a:ext cx="2851178" cy="634901"/>
          </a:xfrm>
          <a:prstGeom prst="rect">
            <a:avLst/>
          </a:prstGeom>
          <a:noFill/>
          <a:ln/>
        </p:spPr>
        <p:txBody>
          <a:bodyPr wrap="square" lIns="0" tIns="0" rIns="0" bIns="0" rtlCol="0" anchor="t">
            <a:noAutofit/>
          </a:bodyPr>
          <a:lstStyle/>
          <a:p>
            <a:pPr marL="0" indent="0" algn="l">
              <a:lnSpc>
                <a:spcPct val="117000"/>
              </a:lnSpc>
              <a:buNone/>
            </a:pPr>
            <a:r>
              <a:rPr lang="en-US" sz="1300" dirty="0">
                <a:solidFill>
                  <a:srgbClr val="272525"/>
                </a:solidFill>
                <a:latin typeface="Manrope" pitchFamily="34" charset="0"/>
                <a:ea typeface="Manrope" pitchFamily="34" charset="-122"/>
                <a:cs typeface="Manrope" pitchFamily="34" charset="-120"/>
              </a:rPr>
              <a:t>Hỗ trợ thao tác thêm, sửa, xem chi tiết liên hệ một cách khoa học và có hệ thống.</a:t>
            </a:r>
            <a:endParaRPr lang="en-US" sz="1300" dirty="0"/>
          </a:p>
        </p:txBody>
      </p:sp>
      <p:sp>
        <p:nvSpPr>
          <p:cNvPr id="20" name="Shape 16"/>
          <p:cNvSpPr/>
          <p:nvPr/>
        </p:nvSpPr>
        <p:spPr>
          <a:xfrm>
            <a:off x="4363135" y="5036939"/>
            <a:ext cx="425241" cy="425252"/>
          </a:xfrm>
          <a:prstGeom prst="roundRect">
            <a:avLst>
              <a:gd name="adj" fmla="val 40005"/>
            </a:avLst>
          </a:prstGeom>
          <a:solidFill>
            <a:srgbClr val="D4F7F5"/>
          </a:solidFill>
          <a:ln/>
        </p:spPr>
        <p:txBody>
          <a:bodyPr/>
          <a:lstStyle/>
          <a:p>
            <a:endParaRPr lang="vi-VN"/>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34025" y="5107831"/>
            <a:ext cx="283461" cy="283468"/>
          </a:xfrm>
          <a:prstGeom prst="rect">
            <a:avLst/>
          </a:prstGeom>
        </p:spPr>
      </p:pic>
      <p:sp>
        <p:nvSpPr>
          <p:cNvPr id="22" name="Text 17"/>
          <p:cNvSpPr/>
          <p:nvPr/>
        </p:nvSpPr>
        <p:spPr>
          <a:xfrm>
            <a:off x="4977383" y="5119588"/>
            <a:ext cx="2851178" cy="519708"/>
          </a:xfrm>
          <a:prstGeom prst="rect">
            <a:avLst/>
          </a:prstGeom>
          <a:noFill/>
          <a:ln/>
        </p:spPr>
        <p:txBody>
          <a:bodyPr wrap="square" lIns="0" tIns="0" rIns="0" bIns="0" rtlCol="0" anchor="t">
            <a:normAutofit/>
          </a:bodyPr>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Truy cập nhanh bằng chỉ mục</a:t>
            </a:r>
            <a:endParaRPr lang="en-US" sz="1850" dirty="0"/>
          </a:p>
        </p:txBody>
      </p:sp>
      <p:sp>
        <p:nvSpPr>
          <p:cNvPr id="23" name="Text 18"/>
          <p:cNvSpPr/>
          <p:nvPr/>
        </p:nvSpPr>
        <p:spPr>
          <a:xfrm>
            <a:off x="4977383" y="5752703"/>
            <a:ext cx="2851178" cy="423267"/>
          </a:xfrm>
          <a:prstGeom prst="rect">
            <a:avLst/>
          </a:prstGeom>
          <a:noFill/>
          <a:ln/>
        </p:spPr>
        <p:txBody>
          <a:bodyPr wrap="square" lIns="0" tIns="0" rIns="0" bIns="0" rtlCol="0" anchor="t">
            <a:noAutofit/>
          </a:bodyPr>
          <a:lstStyle/>
          <a:p>
            <a:pPr marL="0" indent="0" algn="l">
              <a:lnSpc>
                <a:spcPct val="117000"/>
              </a:lnSpc>
              <a:buNone/>
            </a:pPr>
            <a:r>
              <a:rPr lang="en-US" sz="1300" dirty="0">
                <a:solidFill>
                  <a:srgbClr val="272525"/>
                </a:solidFill>
                <a:latin typeface="Manrope" pitchFamily="34" charset="0"/>
                <a:ea typeface="Manrope" pitchFamily="34" charset="-122"/>
                <a:cs typeface="Manrope" pitchFamily="34" charset="-120"/>
              </a:rPr>
              <a:t>Tăng tốc truy cập liên hệ bằng tìm kiếm và cuộn nhanh theo bảng chữ cái A–Z.</a:t>
            </a:r>
            <a:endParaRPr lang="en-US" sz="1300" dirty="0"/>
          </a:p>
        </p:txBody>
      </p:sp>
      <p:sp>
        <p:nvSpPr>
          <p:cNvPr id="24" name="Shape 19"/>
          <p:cNvSpPr/>
          <p:nvPr/>
        </p:nvSpPr>
        <p:spPr>
          <a:xfrm>
            <a:off x="8064794" y="5036939"/>
            <a:ext cx="425241" cy="425252"/>
          </a:xfrm>
          <a:prstGeom prst="roundRect">
            <a:avLst>
              <a:gd name="adj" fmla="val 40005"/>
            </a:avLst>
          </a:prstGeom>
          <a:solidFill>
            <a:srgbClr val="D4F7F5"/>
          </a:solidFill>
          <a:ln/>
        </p:spPr>
        <p:txBody>
          <a:bodyPr/>
          <a:lstStyle/>
          <a:p>
            <a:endParaRPr lang="vi-VN"/>
          </a:p>
        </p:txBody>
      </p:sp>
      <p:pic>
        <p:nvPicPr>
          <p:cNvPr id="2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35684" y="5107831"/>
            <a:ext cx="283461" cy="283468"/>
          </a:xfrm>
          <a:prstGeom prst="rect">
            <a:avLst/>
          </a:prstGeom>
        </p:spPr>
      </p:pic>
      <p:sp>
        <p:nvSpPr>
          <p:cNvPr id="26" name="Text 20"/>
          <p:cNvSpPr/>
          <p:nvPr/>
        </p:nvSpPr>
        <p:spPr>
          <a:xfrm>
            <a:off x="8679042" y="5119588"/>
            <a:ext cx="2851178"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Dữ liệu cục bộ ổn định</a:t>
            </a:r>
            <a:endParaRPr lang="en-US" sz="1850" dirty="0"/>
          </a:p>
        </p:txBody>
      </p:sp>
      <p:sp>
        <p:nvSpPr>
          <p:cNvPr id="27" name="Text 21"/>
          <p:cNvSpPr/>
          <p:nvPr/>
        </p:nvSpPr>
        <p:spPr>
          <a:xfrm>
            <a:off x="8679042" y="5492849"/>
            <a:ext cx="2851178" cy="634901"/>
          </a:xfrm>
          <a:prstGeom prst="rect">
            <a:avLst/>
          </a:prstGeom>
          <a:noFill/>
          <a:ln/>
        </p:spPr>
        <p:txBody>
          <a:bodyPr wrap="square" lIns="0" tIns="0" rIns="0" bIns="0" rtlCol="0" anchor="t">
            <a:noAutofit/>
          </a:bodyPr>
          <a:lstStyle/>
          <a:p>
            <a:pPr marL="0" indent="0" algn="l">
              <a:lnSpc>
                <a:spcPct val="117000"/>
              </a:lnSpc>
              <a:buNone/>
            </a:pPr>
            <a:r>
              <a:rPr lang="en-US" sz="1300" dirty="0">
                <a:solidFill>
                  <a:srgbClr val="272525"/>
                </a:solidFill>
                <a:latin typeface="Manrope" pitchFamily="34" charset="0"/>
                <a:ea typeface="Manrope" pitchFamily="34" charset="-122"/>
                <a:cs typeface="Manrope" pitchFamily="34" charset="-120"/>
              </a:rPr>
              <a:t>Lưu trữ dữ liệu cục bộ ổn định, dễ mở rộng, hỗ trợ gọi điện trực tiếp từ ứng dụng.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570111"/>
            <a:ext cx="1091974" cy="287139"/>
          </a:xfrm>
          <a:prstGeom prst="roundRect">
            <a:avLst>
              <a:gd name="adj" fmla="val 47396"/>
            </a:avLst>
          </a:prstGeom>
          <a:solidFill>
            <a:srgbClr val="D4F7F5"/>
          </a:solidFill>
          <a:ln/>
        </p:spPr>
        <p:txBody>
          <a:bodyPr/>
          <a:lstStyle/>
          <a:p>
            <a:endParaRPr lang="vi-VN"/>
          </a:p>
        </p:txBody>
      </p:sp>
      <p:sp>
        <p:nvSpPr>
          <p:cNvPr id="3" name="Text 1"/>
          <p:cNvSpPr/>
          <p:nvPr/>
        </p:nvSpPr>
        <p:spPr>
          <a:xfrm>
            <a:off x="774879" y="626765"/>
            <a:ext cx="1474751" cy="173831"/>
          </a:xfrm>
          <a:prstGeom prst="rect">
            <a:avLst/>
          </a:prstGeom>
          <a:noFill/>
          <a:ln/>
        </p:spPr>
        <p:txBody>
          <a:bodyPr wrap="none" lIns="0" tIns="0" rIns="0" bIns="0" rtlCol="0" anchor="t"/>
          <a:lstStyle/>
          <a:p>
            <a:pPr marL="0" indent="0" algn="l">
              <a:lnSpc>
                <a:spcPct val="96000"/>
              </a:lnSpc>
              <a:buNone/>
            </a:pPr>
            <a:r>
              <a:rPr lang="en-US" sz="1150" dirty="0">
                <a:solidFill>
                  <a:srgbClr val="272525"/>
                </a:solidFill>
                <a:latin typeface="Manrope" pitchFamily="34" charset="0"/>
                <a:ea typeface="Manrope" pitchFamily="34" charset="-122"/>
                <a:cs typeface="Manrope" pitchFamily="34" charset="-120"/>
              </a:rPr>
              <a:t>CHỨC NĂNG</a:t>
            </a:r>
            <a:endParaRPr lang="en-US" sz="1150" dirty="0"/>
          </a:p>
        </p:txBody>
      </p:sp>
      <p:sp>
        <p:nvSpPr>
          <p:cNvPr id="4" name="Text 2"/>
          <p:cNvSpPr/>
          <p:nvPr/>
        </p:nvSpPr>
        <p:spPr>
          <a:xfrm>
            <a:off x="661475" y="932855"/>
            <a:ext cx="10868745" cy="519807"/>
          </a:xfrm>
          <a:prstGeom prst="rect">
            <a:avLst/>
          </a:prstGeom>
          <a:noFill/>
          <a:ln/>
        </p:spPr>
        <p:txBody>
          <a:bodyPr wrap="none" lIns="0" tIns="0" rIns="0" bIns="0" rtlCol="0" anchor="t"/>
          <a:lstStyle/>
          <a:p>
            <a:pPr marL="0" indent="0" algn="l">
              <a:lnSpc>
                <a:spcPct val="92000"/>
              </a:lnSpc>
              <a:buNone/>
            </a:pPr>
            <a:r>
              <a:rPr lang="en-US" sz="3700" kern="0" spc="-112" dirty="0">
                <a:solidFill>
                  <a:srgbClr val="2F4F4F"/>
                </a:solidFill>
                <a:latin typeface="DM Sans Light" pitchFamily="34" charset="0"/>
                <a:ea typeface="DM Sans Light" pitchFamily="34" charset="-122"/>
                <a:cs typeface="DM Sans Light" pitchFamily="34" charset="-120"/>
              </a:rPr>
              <a:t>Tổng Quan Chức Năng Chính</a:t>
            </a:r>
            <a:endParaRPr lang="en-US" sz="3700" dirty="0"/>
          </a:p>
        </p:txBody>
      </p:sp>
      <p:pic>
        <p:nvPicPr>
          <p:cNvPr id="5" name="Image 0" descr="preencoded.png"/>
          <p:cNvPicPr>
            <a:picLocks noChangeAspect="1"/>
          </p:cNvPicPr>
          <p:nvPr/>
        </p:nvPicPr>
        <p:blipFill>
          <a:blip r:embed="rId3"/>
          <a:stretch>
            <a:fillRect/>
          </a:stretch>
        </p:blipFill>
        <p:spPr>
          <a:xfrm>
            <a:off x="661475" y="2213372"/>
            <a:ext cx="3465426" cy="2141835"/>
          </a:xfrm>
          <a:prstGeom prst="rect">
            <a:avLst/>
          </a:prstGeom>
        </p:spPr>
      </p:pic>
      <p:sp>
        <p:nvSpPr>
          <p:cNvPr id="6" name="Text 3"/>
          <p:cNvSpPr/>
          <p:nvPr/>
        </p:nvSpPr>
        <p:spPr>
          <a:xfrm>
            <a:off x="661475" y="4591447"/>
            <a:ext cx="3465426"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Quản lý danh bạ</a:t>
            </a:r>
            <a:endParaRPr lang="en-US" sz="1850" dirty="0"/>
          </a:p>
        </p:txBody>
      </p:sp>
      <p:sp>
        <p:nvSpPr>
          <p:cNvPr id="7" name="Text 4"/>
          <p:cNvSpPr/>
          <p:nvPr/>
        </p:nvSpPr>
        <p:spPr>
          <a:xfrm>
            <a:off x="661475" y="4964708"/>
            <a:ext cx="3465426" cy="1058466"/>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272525"/>
                </a:solidFill>
                <a:latin typeface="Manrope" pitchFamily="34" charset="0"/>
                <a:ea typeface="Manrope" pitchFamily="34" charset="-122"/>
                <a:cs typeface="Manrope" pitchFamily="34" charset="-120"/>
              </a:rPr>
              <a:t>Hiển thị toàn bộ danh sách liên hệ, thêm mới, chỉnh sửa và xem chi tiết với đầy đủ thông tin như tên, số điện thoại, email, công ty, avatar và trạng thái yêu thích.</a:t>
            </a:r>
            <a:endParaRPr lang="en-US" sz="1450" dirty="0"/>
          </a:p>
        </p:txBody>
      </p:sp>
      <p:pic>
        <p:nvPicPr>
          <p:cNvPr id="8" name="Image 1" descr="preencoded.png"/>
          <p:cNvPicPr>
            <a:picLocks noChangeAspect="1"/>
          </p:cNvPicPr>
          <p:nvPr/>
        </p:nvPicPr>
        <p:blipFill>
          <a:blip r:embed="rId4"/>
          <a:stretch>
            <a:fillRect/>
          </a:stretch>
        </p:blipFill>
        <p:spPr>
          <a:xfrm>
            <a:off x="4363135" y="2213372"/>
            <a:ext cx="3465426" cy="2141835"/>
          </a:xfrm>
          <a:prstGeom prst="rect">
            <a:avLst/>
          </a:prstGeom>
        </p:spPr>
      </p:pic>
      <p:sp>
        <p:nvSpPr>
          <p:cNvPr id="9" name="Text 5"/>
          <p:cNvSpPr/>
          <p:nvPr/>
        </p:nvSpPr>
        <p:spPr>
          <a:xfrm>
            <a:off x="4363135" y="4591447"/>
            <a:ext cx="3465426"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Tìm kiếm &amp; Yêu thích</a:t>
            </a:r>
            <a:endParaRPr lang="en-US" sz="1850" dirty="0"/>
          </a:p>
        </p:txBody>
      </p:sp>
      <p:sp>
        <p:nvSpPr>
          <p:cNvPr id="10" name="Text 6"/>
          <p:cNvSpPr/>
          <p:nvPr/>
        </p:nvSpPr>
        <p:spPr>
          <a:xfrm>
            <a:off x="4363135" y="4964708"/>
            <a:ext cx="3465426" cy="1323082"/>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272525"/>
                </a:solidFill>
                <a:latin typeface="Manrope" pitchFamily="34" charset="0"/>
                <a:ea typeface="Manrope" pitchFamily="34" charset="-122"/>
                <a:cs typeface="Manrope" pitchFamily="34" charset="-120"/>
              </a:rPr>
              <a:t>Tìm kiếm liên hệ theo từ khóa, cuộn nhanh theo bảng chữ cái A–Z, đánh dấu liên hệ quan trọng và tách riêng nhóm yêu thích để truy cập nhanh từ thanh điều hướng dưới.</a:t>
            </a:r>
            <a:endParaRPr lang="en-US" sz="1450" dirty="0"/>
          </a:p>
        </p:txBody>
      </p:sp>
      <p:pic>
        <p:nvPicPr>
          <p:cNvPr id="11" name="Image 2" descr="preencoded.png"/>
          <p:cNvPicPr>
            <a:picLocks noChangeAspect="1"/>
          </p:cNvPicPr>
          <p:nvPr/>
        </p:nvPicPr>
        <p:blipFill>
          <a:blip r:embed="rId5"/>
          <a:stretch>
            <a:fillRect/>
          </a:stretch>
        </p:blipFill>
        <p:spPr>
          <a:xfrm>
            <a:off x="8064794" y="2213372"/>
            <a:ext cx="3465426" cy="2141835"/>
          </a:xfrm>
          <a:prstGeom prst="rect">
            <a:avLst/>
          </a:prstGeom>
        </p:spPr>
      </p:pic>
      <p:sp>
        <p:nvSpPr>
          <p:cNvPr id="12" name="Text 7"/>
          <p:cNvSpPr/>
          <p:nvPr/>
        </p:nvSpPr>
        <p:spPr>
          <a:xfrm>
            <a:off x="8064794" y="4591447"/>
            <a:ext cx="3465426"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Quay số &amp; Lịch sử cuộc gọi</a:t>
            </a:r>
            <a:endParaRPr lang="en-US" sz="1850" dirty="0"/>
          </a:p>
        </p:txBody>
      </p:sp>
      <p:sp>
        <p:nvSpPr>
          <p:cNvPr id="13" name="Text 8"/>
          <p:cNvSpPr/>
          <p:nvPr/>
        </p:nvSpPr>
        <p:spPr>
          <a:xfrm>
            <a:off x="8064794" y="4964708"/>
            <a:ext cx="3465426" cy="1058466"/>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272525"/>
                </a:solidFill>
                <a:latin typeface="Manrope" pitchFamily="34" charset="0"/>
                <a:ea typeface="Manrope" pitchFamily="34" charset="-122"/>
                <a:cs typeface="Manrope" pitchFamily="34" charset="-120"/>
              </a:rPr>
              <a:t>Bàn phím số tích hợp, gợi ý tên liên hệ tự động, thực hiện cuộc gọi trực tiếp và lưu lịch sử cuộc gọi đi gồm số điện thoại, tên, loại và thời gian gọi.</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CFEB5-3938-BEB7-52D1-3591DC08374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2377752-4FDD-72EC-6492-F64D80274559}"/>
              </a:ext>
            </a:extLst>
          </p:cNvPr>
          <p:cNvSpPr/>
          <p:nvPr/>
        </p:nvSpPr>
        <p:spPr>
          <a:xfrm>
            <a:off x="661475" y="570111"/>
            <a:ext cx="1091974" cy="287139"/>
          </a:xfrm>
          <a:prstGeom prst="roundRect">
            <a:avLst>
              <a:gd name="adj" fmla="val 47396"/>
            </a:avLst>
          </a:prstGeom>
          <a:solidFill>
            <a:srgbClr val="D4F7F5"/>
          </a:solidFill>
          <a:ln/>
        </p:spPr>
        <p:txBody>
          <a:bodyPr/>
          <a:lstStyle/>
          <a:p>
            <a:endParaRPr lang="vi-VN"/>
          </a:p>
        </p:txBody>
      </p:sp>
      <p:sp>
        <p:nvSpPr>
          <p:cNvPr id="3" name="Text 1">
            <a:extLst>
              <a:ext uri="{FF2B5EF4-FFF2-40B4-BE49-F238E27FC236}">
                <a16:creationId xmlns:a16="http://schemas.microsoft.com/office/drawing/2014/main" id="{FF38AA65-5885-A770-2744-2309419FD669}"/>
              </a:ext>
            </a:extLst>
          </p:cNvPr>
          <p:cNvSpPr/>
          <p:nvPr/>
        </p:nvSpPr>
        <p:spPr>
          <a:xfrm>
            <a:off x="774879" y="626765"/>
            <a:ext cx="1474751" cy="173831"/>
          </a:xfrm>
          <a:prstGeom prst="rect">
            <a:avLst/>
          </a:prstGeom>
          <a:noFill/>
          <a:ln/>
        </p:spPr>
        <p:txBody>
          <a:bodyPr wrap="none" lIns="0" tIns="0" rIns="0" bIns="0" rtlCol="0" anchor="t"/>
          <a:lstStyle/>
          <a:p>
            <a:pPr marL="0" indent="0" algn="l">
              <a:lnSpc>
                <a:spcPct val="96000"/>
              </a:lnSpc>
              <a:buNone/>
            </a:pPr>
            <a:r>
              <a:rPr lang="en-US" sz="1150" dirty="0">
                <a:solidFill>
                  <a:srgbClr val="272525"/>
                </a:solidFill>
                <a:latin typeface="Manrope" pitchFamily="34" charset="0"/>
                <a:ea typeface="Manrope" pitchFamily="34" charset="-122"/>
                <a:cs typeface="Manrope" pitchFamily="34" charset="-120"/>
              </a:rPr>
              <a:t>CHỨC NĂNG</a:t>
            </a:r>
            <a:endParaRPr lang="en-US" sz="1150" dirty="0"/>
          </a:p>
        </p:txBody>
      </p:sp>
      <p:sp>
        <p:nvSpPr>
          <p:cNvPr id="4" name="Text 2">
            <a:extLst>
              <a:ext uri="{FF2B5EF4-FFF2-40B4-BE49-F238E27FC236}">
                <a16:creationId xmlns:a16="http://schemas.microsoft.com/office/drawing/2014/main" id="{441A4191-B4A2-E6BC-54D5-4F0612BEFBE8}"/>
              </a:ext>
            </a:extLst>
          </p:cNvPr>
          <p:cNvSpPr/>
          <p:nvPr/>
        </p:nvSpPr>
        <p:spPr>
          <a:xfrm>
            <a:off x="661475" y="932855"/>
            <a:ext cx="10868745" cy="519807"/>
          </a:xfrm>
          <a:prstGeom prst="rect">
            <a:avLst/>
          </a:prstGeom>
          <a:noFill/>
          <a:ln/>
        </p:spPr>
        <p:txBody>
          <a:bodyPr wrap="none" lIns="0" tIns="0" rIns="0" bIns="0" rtlCol="0" anchor="t"/>
          <a:lstStyle/>
          <a:p>
            <a:pPr marL="0" indent="0" algn="l">
              <a:lnSpc>
                <a:spcPct val="92000"/>
              </a:lnSpc>
              <a:buNone/>
            </a:pPr>
            <a:r>
              <a:rPr lang="en-US" sz="3700" kern="0" spc="-112" dirty="0">
                <a:solidFill>
                  <a:srgbClr val="2F4F4F"/>
                </a:solidFill>
                <a:latin typeface="DM Sans Light" pitchFamily="34" charset="0"/>
                <a:ea typeface="DM Sans Light" pitchFamily="34" charset="-122"/>
                <a:cs typeface="DM Sans Light" pitchFamily="34" charset="-120"/>
              </a:rPr>
              <a:t>Tổng Quan Chức Năng Chính</a:t>
            </a:r>
            <a:endParaRPr lang="en-US" sz="3700" dirty="0"/>
          </a:p>
        </p:txBody>
      </p:sp>
      <p:sp>
        <p:nvSpPr>
          <p:cNvPr id="6" name="Text 3">
            <a:extLst>
              <a:ext uri="{FF2B5EF4-FFF2-40B4-BE49-F238E27FC236}">
                <a16:creationId xmlns:a16="http://schemas.microsoft.com/office/drawing/2014/main" id="{939F965F-62E6-C087-5075-C245CEFF2831}"/>
              </a:ext>
            </a:extLst>
          </p:cNvPr>
          <p:cNvSpPr/>
          <p:nvPr/>
        </p:nvSpPr>
        <p:spPr>
          <a:xfrm>
            <a:off x="748237" y="1591489"/>
            <a:ext cx="3465426"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Quản lý danh bạ</a:t>
            </a:r>
            <a:endParaRPr lang="en-US" sz="1850" dirty="0"/>
          </a:p>
        </p:txBody>
      </p:sp>
      <p:sp>
        <p:nvSpPr>
          <p:cNvPr id="9" name="Text 5">
            <a:extLst>
              <a:ext uri="{FF2B5EF4-FFF2-40B4-BE49-F238E27FC236}">
                <a16:creationId xmlns:a16="http://schemas.microsoft.com/office/drawing/2014/main" id="{FAC3BCDD-EBE4-174A-A2CA-BE2E4BFF06E8}"/>
              </a:ext>
            </a:extLst>
          </p:cNvPr>
          <p:cNvSpPr/>
          <p:nvPr/>
        </p:nvSpPr>
        <p:spPr>
          <a:xfrm>
            <a:off x="4082244" y="1596973"/>
            <a:ext cx="3465426"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Tìm kiếm &amp; Yêu thích</a:t>
            </a:r>
            <a:endParaRPr lang="en-US" sz="1850" dirty="0"/>
          </a:p>
        </p:txBody>
      </p:sp>
      <p:sp>
        <p:nvSpPr>
          <p:cNvPr id="12" name="Text 7">
            <a:extLst>
              <a:ext uri="{FF2B5EF4-FFF2-40B4-BE49-F238E27FC236}">
                <a16:creationId xmlns:a16="http://schemas.microsoft.com/office/drawing/2014/main" id="{5EFDC73C-6D39-D624-781E-1349CC44A3A9}"/>
              </a:ext>
            </a:extLst>
          </p:cNvPr>
          <p:cNvSpPr/>
          <p:nvPr/>
        </p:nvSpPr>
        <p:spPr>
          <a:xfrm>
            <a:off x="7714598" y="1598610"/>
            <a:ext cx="3465426"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Quay số &amp; Lịch sử cuộc gọi</a:t>
            </a:r>
            <a:endParaRPr lang="en-US" sz="1850" dirty="0"/>
          </a:p>
        </p:txBody>
      </p:sp>
      <p:pic>
        <p:nvPicPr>
          <p:cNvPr id="15" name="Picture 14">
            <a:extLst>
              <a:ext uri="{FF2B5EF4-FFF2-40B4-BE49-F238E27FC236}">
                <a16:creationId xmlns:a16="http://schemas.microsoft.com/office/drawing/2014/main" id="{EACC8F89-7796-A56D-F6C4-4E85E0C4ECF9}"/>
              </a:ext>
            </a:extLst>
          </p:cNvPr>
          <p:cNvPicPr>
            <a:picLocks noChangeAspect="1"/>
          </p:cNvPicPr>
          <p:nvPr/>
        </p:nvPicPr>
        <p:blipFill>
          <a:blip r:embed="rId3"/>
          <a:stretch>
            <a:fillRect/>
          </a:stretch>
        </p:blipFill>
        <p:spPr>
          <a:xfrm>
            <a:off x="661475" y="1980207"/>
            <a:ext cx="2535166" cy="4602224"/>
          </a:xfrm>
          <a:prstGeom prst="rect">
            <a:avLst/>
          </a:prstGeom>
        </p:spPr>
      </p:pic>
      <p:pic>
        <p:nvPicPr>
          <p:cNvPr id="17" name="Picture 16">
            <a:extLst>
              <a:ext uri="{FF2B5EF4-FFF2-40B4-BE49-F238E27FC236}">
                <a16:creationId xmlns:a16="http://schemas.microsoft.com/office/drawing/2014/main" id="{B5ADCBC7-7E71-5CC2-1E61-C61060A9295B}"/>
              </a:ext>
            </a:extLst>
          </p:cNvPr>
          <p:cNvPicPr>
            <a:picLocks noChangeAspect="1"/>
          </p:cNvPicPr>
          <p:nvPr/>
        </p:nvPicPr>
        <p:blipFill>
          <a:blip r:embed="rId4"/>
          <a:stretch>
            <a:fillRect/>
          </a:stretch>
        </p:blipFill>
        <p:spPr>
          <a:xfrm>
            <a:off x="4082244" y="2001138"/>
            <a:ext cx="2662732" cy="4607380"/>
          </a:xfrm>
          <a:prstGeom prst="rect">
            <a:avLst/>
          </a:prstGeom>
        </p:spPr>
      </p:pic>
      <p:pic>
        <p:nvPicPr>
          <p:cNvPr id="19" name="Picture 18">
            <a:extLst>
              <a:ext uri="{FF2B5EF4-FFF2-40B4-BE49-F238E27FC236}">
                <a16:creationId xmlns:a16="http://schemas.microsoft.com/office/drawing/2014/main" id="{DD5C6E61-2A61-5E69-A1FC-1DC7F1447D38}"/>
              </a:ext>
            </a:extLst>
          </p:cNvPr>
          <p:cNvPicPr>
            <a:picLocks noChangeAspect="1"/>
          </p:cNvPicPr>
          <p:nvPr/>
        </p:nvPicPr>
        <p:blipFill>
          <a:blip r:embed="rId5"/>
          <a:stretch>
            <a:fillRect/>
          </a:stretch>
        </p:blipFill>
        <p:spPr>
          <a:xfrm>
            <a:off x="7630580" y="1980207"/>
            <a:ext cx="2729561" cy="4602224"/>
          </a:xfrm>
          <a:prstGeom prst="rect">
            <a:avLst/>
          </a:prstGeom>
        </p:spPr>
      </p:pic>
    </p:spTree>
    <p:extLst>
      <p:ext uri="{BB962C8B-B14F-4D97-AF65-F5344CB8AC3E}">
        <p14:creationId xmlns:p14="http://schemas.microsoft.com/office/powerpoint/2010/main" val="4183515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786209"/>
            <a:ext cx="805636" cy="287139"/>
          </a:xfrm>
          <a:prstGeom prst="roundRect">
            <a:avLst>
              <a:gd name="adj" fmla="val 47396"/>
            </a:avLst>
          </a:prstGeom>
          <a:solidFill>
            <a:srgbClr val="D4F7F5"/>
          </a:solidFill>
          <a:ln/>
        </p:spPr>
        <p:txBody>
          <a:bodyPr/>
          <a:lstStyle/>
          <a:p>
            <a:endParaRPr lang="vi-VN"/>
          </a:p>
        </p:txBody>
      </p:sp>
      <p:sp>
        <p:nvSpPr>
          <p:cNvPr id="3" name="Text 1"/>
          <p:cNvSpPr/>
          <p:nvPr/>
        </p:nvSpPr>
        <p:spPr>
          <a:xfrm>
            <a:off x="774879" y="842863"/>
            <a:ext cx="1188412" cy="173831"/>
          </a:xfrm>
          <a:prstGeom prst="rect">
            <a:avLst/>
          </a:prstGeom>
          <a:noFill/>
          <a:ln/>
        </p:spPr>
        <p:txBody>
          <a:bodyPr wrap="none" lIns="0" tIns="0" rIns="0" bIns="0" rtlCol="0" anchor="t"/>
          <a:lstStyle/>
          <a:p>
            <a:pPr marL="0" indent="0" algn="l">
              <a:lnSpc>
                <a:spcPct val="96000"/>
              </a:lnSpc>
              <a:buNone/>
            </a:pPr>
            <a:r>
              <a:rPr lang="en-US" sz="1150" dirty="0">
                <a:solidFill>
                  <a:srgbClr val="272525"/>
                </a:solidFill>
                <a:latin typeface="Manrope" pitchFamily="34" charset="0"/>
                <a:ea typeface="Manrope" pitchFamily="34" charset="-122"/>
                <a:cs typeface="Manrope" pitchFamily="34" charset="-120"/>
              </a:rPr>
              <a:t>CHI TIẾT</a:t>
            </a:r>
            <a:endParaRPr lang="en-US" sz="1150" dirty="0"/>
          </a:p>
        </p:txBody>
      </p:sp>
      <p:sp>
        <p:nvSpPr>
          <p:cNvPr id="4" name="Text 2"/>
          <p:cNvSpPr/>
          <p:nvPr/>
        </p:nvSpPr>
        <p:spPr>
          <a:xfrm>
            <a:off x="661475" y="1148953"/>
            <a:ext cx="10868745" cy="519807"/>
          </a:xfrm>
          <a:prstGeom prst="rect">
            <a:avLst/>
          </a:prstGeom>
          <a:noFill/>
          <a:ln/>
        </p:spPr>
        <p:txBody>
          <a:bodyPr wrap="none" lIns="0" tIns="0" rIns="0" bIns="0" rtlCol="0" anchor="t"/>
          <a:lstStyle/>
          <a:p>
            <a:pPr marL="0" indent="0" algn="l">
              <a:lnSpc>
                <a:spcPct val="92000"/>
              </a:lnSpc>
              <a:buNone/>
            </a:pPr>
            <a:r>
              <a:rPr lang="en-US" sz="3700" kern="0" spc="-112" dirty="0">
                <a:solidFill>
                  <a:srgbClr val="2F4F4F"/>
                </a:solidFill>
                <a:latin typeface="DM Sans Light" pitchFamily="34" charset="0"/>
                <a:ea typeface="DM Sans Light" pitchFamily="34" charset="-122"/>
                <a:cs typeface="DM Sans Light" pitchFamily="34" charset="-120"/>
              </a:rPr>
              <a:t>Chi Tiết Quản Lý Danh Bạ</a:t>
            </a:r>
            <a:endParaRPr lang="en-US" sz="3700" dirty="0"/>
          </a:p>
        </p:txBody>
      </p:sp>
      <p:sp>
        <p:nvSpPr>
          <p:cNvPr id="5" name="Shape 3"/>
          <p:cNvSpPr/>
          <p:nvPr/>
        </p:nvSpPr>
        <p:spPr>
          <a:xfrm>
            <a:off x="661475" y="1952228"/>
            <a:ext cx="10868745" cy="1015901"/>
          </a:xfrm>
          <a:prstGeom prst="roundRect">
            <a:avLst>
              <a:gd name="adj" fmla="val 16745"/>
            </a:avLst>
          </a:prstGeom>
          <a:solidFill>
            <a:srgbClr val="D4F7F5"/>
          </a:solidFill>
          <a:ln/>
        </p:spPr>
        <p:txBody>
          <a:bodyPr/>
          <a:lstStyle/>
          <a:p>
            <a:endParaRPr lang="vi-VN"/>
          </a:p>
        </p:txBody>
      </p:sp>
      <p:sp>
        <p:nvSpPr>
          <p:cNvPr id="6" name="Text 4"/>
          <p:cNvSpPr/>
          <p:nvPr/>
        </p:nvSpPr>
        <p:spPr>
          <a:xfrm>
            <a:off x="850482" y="2141240"/>
            <a:ext cx="10490731"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Thông tin lưu trữ theo Contact</a:t>
            </a:r>
            <a:endParaRPr lang="en-US" sz="1850" dirty="0"/>
          </a:p>
        </p:txBody>
      </p:sp>
      <p:sp>
        <p:nvSpPr>
          <p:cNvPr id="7" name="Text 5"/>
          <p:cNvSpPr/>
          <p:nvPr/>
        </p:nvSpPr>
        <p:spPr>
          <a:xfrm>
            <a:off x="850482" y="2514501"/>
            <a:ext cx="10490731" cy="264616"/>
          </a:xfrm>
          <a:prstGeom prst="rect">
            <a:avLst/>
          </a:prstGeom>
          <a:noFill/>
          <a:ln/>
        </p:spPr>
        <p:txBody>
          <a:bodyPr wrap="none" lIns="0" tIns="0" rIns="0" bIns="0" rtlCol="0" anchor="t"/>
          <a:lstStyle/>
          <a:p>
            <a:pPr marL="0" indent="0" algn="l">
              <a:lnSpc>
                <a:spcPct val="117000"/>
              </a:lnSpc>
              <a:buNone/>
            </a:pPr>
            <a:r>
              <a:rPr lang="en-US" sz="1450" dirty="0">
                <a:solidFill>
                  <a:srgbClr val="272525"/>
                </a:solidFill>
                <a:latin typeface="Manrope" pitchFamily="34" charset="0"/>
                <a:ea typeface="Manrope" pitchFamily="34" charset="-122"/>
                <a:cs typeface="Manrope" pitchFamily="34" charset="-120"/>
              </a:rPr>
              <a:t>Mỗi liên hệ lưu trữ đầy đủ: họ tên, số điện thoại, email, công ty, chức vụ, địa chỉ, ghi chú, avatar và trạng thái yêu thích.</a:t>
            </a:r>
            <a:endParaRPr lang="en-US" sz="1450" dirty="0"/>
          </a:p>
        </p:txBody>
      </p:sp>
      <p:sp>
        <p:nvSpPr>
          <p:cNvPr id="8" name="Text 6"/>
          <p:cNvSpPr/>
          <p:nvPr/>
        </p:nvSpPr>
        <p:spPr>
          <a:xfrm>
            <a:off x="661475" y="3180755"/>
            <a:ext cx="378014" cy="207863"/>
          </a:xfrm>
          <a:prstGeom prst="rect">
            <a:avLst/>
          </a:prstGeom>
          <a:noFill/>
          <a:ln/>
        </p:spPr>
        <p:txBody>
          <a:bodyPr wrap="none" lIns="0" tIns="0" rIns="0" bIns="0" rtlCol="0" anchor="ctr"/>
          <a:lstStyle/>
          <a:p>
            <a:pPr marL="0" indent="0" algn="l">
              <a:lnSpc>
                <a:spcPct val="100000"/>
              </a:lnSpc>
              <a:buNone/>
            </a:pPr>
            <a:r>
              <a:rPr lang="en-US" sz="1450" kern="0" spc="-45" dirty="0">
                <a:solidFill>
                  <a:srgbClr val="272525"/>
                </a:solidFill>
                <a:latin typeface="DM Sans Light" pitchFamily="34" charset="0"/>
                <a:ea typeface="DM Sans Light" pitchFamily="34" charset="-122"/>
                <a:cs typeface="DM Sans Light" pitchFamily="34" charset="-120"/>
              </a:rPr>
              <a:t>01</a:t>
            </a:r>
            <a:endParaRPr lang="en-US" sz="1450" dirty="0"/>
          </a:p>
        </p:txBody>
      </p:sp>
      <p:sp>
        <p:nvSpPr>
          <p:cNvPr id="9" name="Shape 7"/>
          <p:cNvSpPr/>
          <p:nvPr/>
        </p:nvSpPr>
        <p:spPr>
          <a:xfrm>
            <a:off x="661475" y="3448248"/>
            <a:ext cx="5339820" cy="25400"/>
          </a:xfrm>
          <a:prstGeom prst="rect">
            <a:avLst/>
          </a:prstGeom>
          <a:solidFill>
            <a:srgbClr val="28D3C9"/>
          </a:solidFill>
          <a:ln/>
        </p:spPr>
        <p:txBody>
          <a:bodyPr/>
          <a:lstStyle/>
          <a:p>
            <a:endParaRPr lang="vi-VN"/>
          </a:p>
        </p:txBody>
      </p:sp>
      <p:sp>
        <p:nvSpPr>
          <p:cNvPr id="10" name="Text 8"/>
          <p:cNvSpPr/>
          <p:nvPr/>
        </p:nvSpPr>
        <p:spPr>
          <a:xfrm>
            <a:off x="661475" y="3593505"/>
            <a:ext cx="5339820"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Hiển thị danh sách</a:t>
            </a:r>
            <a:endParaRPr lang="en-US" sz="1850" dirty="0"/>
          </a:p>
        </p:txBody>
      </p:sp>
      <p:sp>
        <p:nvSpPr>
          <p:cNvPr id="11" name="Text 9"/>
          <p:cNvSpPr/>
          <p:nvPr/>
        </p:nvSpPr>
        <p:spPr>
          <a:xfrm>
            <a:off x="661475" y="3966766"/>
            <a:ext cx="5339820" cy="423267"/>
          </a:xfrm>
          <a:prstGeom prst="rect">
            <a:avLst/>
          </a:prstGeom>
          <a:noFill/>
          <a:ln/>
        </p:spPr>
        <p:txBody>
          <a:bodyPr wrap="square" lIns="0" tIns="0" rIns="0" bIns="0" rtlCol="0" anchor="t">
            <a:noAutofit/>
          </a:bodyPr>
          <a:lstStyle/>
          <a:p>
            <a:pPr marL="0" indent="0" algn="l">
              <a:lnSpc>
                <a:spcPct val="117000"/>
              </a:lnSpc>
              <a:buNone/>
            </a:pPr>
            <a:r>
              <a:rPr lang="en-US" sz="1300" dirty="0">
                <a:solidFill>
                  <a:srgbClr val="272525"/>
                </a:solidFill>
                <a:latin typeface="Manrope" pitchFamily="34" charset="0"/>
                <a:ea typeface="Manrope" pitchFamily="34" charset="-122"/>
                <a:cs typeface="Manrope" pitchFamily="34" charset="-120"/>
              </a:rPr>
              <a:t>Toàn bộ liên hệ được hiển thị rõ ràng, hỗ trợ cuộn nhanh theo chỉ mục chữ cái A–Z trong ContactsFragment.onViewCreated().</a:t>
            </a:r>
            <a:endParaRPr lang="en-US" sz="1300" dirty="0"/>
          </a:p>
        </p:txBody>
      </p:sp>
      <p:sp>
        <p:nvSpPr>
          <p:cNvPr id="12" name="Text 10"/>
          <p:cNvSpPr/>
          <p:nvPr/>
        </p:nvSpPr>
        <p:spPr>
          <a:xfrm>
            <a:off x="6190301" y="3180755"/>
            <a:ext cx="378014" cy="207863"/>
          </a:xfrm>
          <a:prstGeom prst="rect">
            <a:avLst/>
          </a:prstGeom>
          <a:noFill/>
          <a:ln/>
        </p:spPr>
        <p:txBody>
          <a:bodyPr wrap="none" lIns="0" tIns="0" rIns="0" bIns="0" rtlCol="0" anchor="ctr"/>
          <a:lstStyle/>
          <a:p>
            <a:pPr marL="0" indent="0" algn="l">
              <a:lnSpc>
                <a:spcPct val="100000"/>
              </a:lnSpc>
              <a:buNone/>
            </a:pPr>
            <a:r>
              <a:rPr lang="en-US" sz="1450" kern="0" spc="-45" dirty="0">
                <a:solidFill>
                  <a:srgbClr val="272525"/>
                </a:solidFill>
                <a:latin typeface="DM Sans Light" pitchFamily="34" charset="0"/>
                <a:ea typeface="DM Sans Light" pitchFamily="34" charset="-122"/>
                <a:cs typeface="DM Sans Light" pitchFamily="34" charset="-120"/>
              </a:rPr>
              <a:t>02</a:t>
            </a:r>
            <a:endParaRPr lang="en-US" sz="1450" dirty="0"/>
          </a:p>
        </p:txBody>
      </p:sp>
      <p:sp>
        <p:nvSpPr>
          <p:cNvPr id="13" name="Shape 11"/>
          <p:cNvSpPr/>
          <p:nvPr/>
        </p:nvSpPr>
        <p:spPr>
          <a:xfrm>
            <a:off x="6190301" y="3448248"/>
            <a:ext cx="5339919" cy="25400"/>
          </a:xfrm>
          <a:prstGeom prst="rect">
            <a:avLst/>
          </a:prstGeom>
          <a:solidFill>
            <a:srgbClr val="28D3C9"/>
          </a:solidFill>
          <a:ln/>
        </p:spPr>
        <p:txBody>
          <a:bodyPr/>
          <a:lstStyle/>
          <a:p>
            <a:endParaRPr lang="vi-VN"/>
          </a:p>
        </p:txBody>
      </p:sp>
      <p:sp>
        <p:nvSpPr>
          <p:cNvPr id="14" name="Text 12"/>
          <p:cNvSpPr/>
          <p:nvPr/>
        </p:nvSpPr>
        <p:spPr>
          <a:xfrm>
            <a:off x="6190301" y="3593505"/>
            <a:ext cx="5339919"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Thêm &amp; chỉnh sửa</a:t>
            </a:r>
            <a:endParaRPr lang="en-US" sz="1850" dirty="0"/>
          </a:p>
        </p:txBody>
      </p:sp>
      <p:sp>
        <p:nvSpPr>
          <p:cNvPr id="15" name="Text 13"/>
          <p:cNvSpPr/>
          <p:nvPr/>
        </p:nvSpPr>
        <p:spPr>
          <a:xfrm>
            <a:off x="6190301" y="3966766"/>
            <a:ext cx="5339919" cy="423267"/>
          </a:xfrm>
          <a:prstGeom prst="rect">
            <a:avLst/>
          </a:prstGeom>
          <a:noFill/>
          <a:ln/>
        </p:spPr>
        <p:txBody>
          <a:bodyPr wrap="square" lIns="0" tIns="0" rIns="0" bIns="0" rtlCol="0" anchor="t">
            <a:noAutofit/>
          </a:bodyPr>
          <a:lstStyle/>
          <a:p>
            <a:pPr marL="0" indent="0" algn="l">
              <a:lnSpc>
                <a:spcPct val="117000"/>
              </a:lnSpc>
              <a:buNone/>
            </a:pPr>
            <a:r>
              <a:rPr lang="en-US" sz="1300" dirty="0">
                <a:solidFill>
                  <a:srgbClr val="272525"/>
                </a:solidFill>
                <a:latin typeface="Manrope" pitchFamily="34" charset="0"/>
                <a:ea typeface="Manrope" pitchFamily="34" charset="-122"/>
                <a:cs typeface="Manrope" pitchFamily="34" charset="-120"/>
              </a:rPr>
              <a:t>Người dùng có thể thêm liên hệ mới hoặc chỉnh sửa thông tin hiện có thông qua giao diện nhập liệu trực quan.</a:t>
            </a:r>
            <a:endParaRPr lang="en-US" sz="1300" dirty="0"/>
          </a:p>
        </p:txBody>
      </p:sp>
      <p:sp>
        <p:nvSpPr>
          <p:cNvPr id="16" name="Text 14"/>
          <p:cNvSpPr/>
          <p:nvPr/>
        </p:nvSpPr>
        <p:spPr>
          <a:xfrm>
            <a:off x="661475" y="4720729"/>
            <a:ext cx="378014" cy="207863"/>
          </a:xfrm>
          <a:prstGeom prst="rect">
            <a:avLst/>
          </a:prstGeom>
          <a:noFill/>
          <a:ln/>
        </p:spPr>
        <p:txBody>
          <a:bodyPr wrap="none" lIns="0" tIns="0" rIns="0" bIns="0" rtlCol="0" anchor="ctr"/>
          <a:lstStyle/>
          <a:p>
            <a:pPr marL="0" indent="0" algn="l">
              <a:lnSpc>
                <a:spcPct val="100000"/>
              </a:lnSpc>
              <a:buNone/>
            </a:pPr>
            <a:r>
              <a:rPr lang="en-US" sz="1450" kern="0" spc="-45" dirty="0">
                <a:solidFill>
                  <a:srgbClr val="272525"/>
                </a:solidFill>
                <a:latin typeface="DM Sans Light" pitchFamily="34" charset="0"/>
                <a:ea typeface="DM Sans Light" pitchFamily="34" charset="-122"/>
                <a:cs typeface="DM Sans Light" pitchFamily="34" charset="-120"/>
              </a:rPr>
              <a:t>03</a:t>
            </a:r>
            <a:endParaRPr lang="en-US" sz="1450" dirty="0"/>
          </a:p>
        </p:txBody>
      </p:sp>
      <p:sp>
        <p:nvSpPr>
          <p:cNvPr id="17" name="Shape 15"/>
          <p:cNvSpPr/>
          <p:nvPr/>
        </p:nvSpPr>
        <p:spPr>
          <a:xfrm>
            <a:off x="661475" y="4988223"/>
            <a:ext cx="5339820" cy="25400"/>
          </a:xfrm>
          <a:prstGeom prst="rect">
            <a:avLst/>
          </a:prstGeom>
          <a:solidFill>
            <a:srgbClr val="28D3C9"/>
          </a:solidFill>
          <a:ln/>
        </p:spPr>
        <p:txBody>
          <a:bodyPr/>
          <a:lstStyle/>
          <a:p>
            <a:endParaRPr lang="vi-VN"/>
          </a:p>
        </p:txBody>
      </p:sp>
      <p:sp>
        <p:nvSpPr>
          <p:cNvPr id="18" name="Text 16"/>
          <p:cNvSpPr/>
          <p:nvPr/>
        </p:nvSpPr>
        <p:spPr>
          <a:xfrm>
            <a:off x="661475" y="5133479"/>
            <a:ext cx="5339820"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Xem chi tiết</a:t>
            </a:r>
            <a:endParaRPr lang="en-US" sz="1850" dirty="0"/>
          </a:p>
        </p:txBody>
      </p:sp>
      <p:sp>
        <p:nvSpPr>
          <p:cNvPr id="19" name="Text 17"/>
          <p:cNvSpPr/>
          <p:nvPr/>
        </p:nvSpPr>
        <p:spPr>
          <a:xfrm>
            <a:off x="661475" y="5506740"/>
            <a:ext cx="5339820" cy="423267"/>
          </a:xfrm>
          <a:prstGeom prst="rect">
            <a:avLst/>
          </a:prstGeom>
          <a:noFill/>
          <a:ln/>
        </p:spPr>
        <p:txBody>
          <a:bodyPr wrap="square" lIns="0" tIns="0" rIns="0" bIns="0" rtlCol="0" anchor="t">
            <a:noAutofit/>
          </a:bodyPr>
          <a:lstStyle/>
          <a:p>
            <a:pPr marL="0" indent="0" algn="l">
              <a:lnSpc>
                <a:spcPct val="117000"/>
              </a:lnSpc>
              <a:buNone/>
            </a:pPr>
            <a:r>
              <a:rPr lang="en-US" sz="1300" dirty="0">
                <a:solidFill>
                  <a:srgbClr val="272525"/>
                </a:solidFill>
                <a:latin typeface="Manrope" pitchFamily="34" charset="0"/>
                <a:ea typeface="Manrope" pitchFamily="34" charset="-122"/>
                <a:cs typeface="Manrope" pitchFamily="34" charset="-120"/>
              </a:rPr>
              <a:t>Màn hình chi tiết hiển thị toàn bộ thông tin liên hệ và cung cấp nút gọi điện nhanh tích hợp ngay trong giao diện.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06C26-8EF2-8711-4713-8D5435050A7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2D2CC7-DBEB-4905-D889-2A7E9405E8BE}"/>
              </a:ext>
            </a:extLst>
          </p:cNvPr>
          <p:cNvSpPr/>
          <p:nvPr/>
        </p:nvSpPr>
        <p:spPr>
          <a:xfrm>
            <a:off x="661475" y="786209"/>
            <a:ext cx="805636" cy="287139"/>
          </a:xfrm>
          <a:prstGeom prst="roundRect">
            <a:avLst>
              <a:gd name="adj" fmla="val 47396"/>
            </a:avLst>
          </a:prstGeom>
          <a:solidFill>
            <a:srgbClr val="D4F7F5"/>
          </a:solidFill>
          <a:ln/>
        </p:spPr>
        <p:txBody>
          <a:bodyPr/>
          <a:lstStyle/>
          <a:p>
            <a:endParaRPr lang="vi-VN"/>
          </a:p>
        </p:txBody>
      </p:sp>
      <p:sp>
        <p:nvSpPr>
          <p:cNvPr id="3" name="Text 1">
            <a:extLst>
              <a:ext uri="{FF2B5EF4-FFF2-40B4-BE49-F238E27FC236}">
                <a16:creationId xmlns:a16="http://schemas.microsoft.com/office/drawing/2014/main" id="{6F2AD91C-31DF-4532-37FF-E6118EFA551A}"/>
              </a:ext>
            </a:extLst>
          </p:cNvPr>
          <p:cNvSpPr/>
          <p:nvPr/>
        </p:nvSpPr>
        <p:spPr>
          <a:xfrm>
            <a:off x="774879" y="842863"/>
            <a:ext cx="1188412" cy="173831"/>
          </a:xfrm>
          <a:prstGeom prst="rect">
            <a:avLst/>
          </a:prstGeom>
          <a:noFill/>
          <a:ln/>
        </p:spPr>
        <p:txBody>
          <a:bodyPr wrap="none" lIns="0" tIns="0" rIns="0" bIns="0" rtlCol="0" anchor="t"/>
          <a:lstStyle/>
          <a:p>
            <a:pPr marL="0" indent="0" algn="l">
              <a:lnSpc>
                <a:spcPct val="96000"/>
              </a:lnSpc>
              <a:buNone/>
            </a:pPr>
            <a:r>
              <a:rPr lang="en-US" sz="1150" dirty="0">
                <a:solidFill>
                  <a:srgbClr val="272525"/>
                </a:solidFill>
                <a:latin typeface="Manrope" pitchFamily="34" charset="0"/>
                <a:ea typeface="Manrope" pitchFamily="34" charset="-122"/>
                <a:cs typeface="Manrope" pitchFamily="34" charset="-120"/>
              </a:rPr>
              <a:t>CHI TIẾT</a:t>
            </a:r>
            <a:endParaRPr lang="en-US" sz="1150" dirty="0"/>
          </a:p>
        </p:txBody>
      </p:sp>
      <p:sp>
        <p:nvSpPr>
          <p:cNvPr id="4" name="Text 2">
            <a:extLst>
              <a:ext uri="{FF2B5EF4-FFF2-40B4-BE49-F238E27FC236}">
                <a16:creationId xmlns:a16="http://schemas.microsoft.com/office/drawing/2014/main" id="{D961D35E-2B62-D6F2-788C-546BD048C8CE}"/>
              </a:ext>
            </a:extLst>
          </p:cNvPr>
          <p:cNvSpPr/>
          <p:nvPr/>
        </p:nvSpPr>
        <p:spPr>
          <a:xfrm>
            <a:off x="661475" y="1148953"/>
            <a:ext cx="10868745" cy="519807"/>
          </a:xfrm>
          <a:prstGeom prst="rect">
            <a:avLst/>
          </a:prstGeom>
          <a:noFill/>
          <a:ln/>
        </p:spPr>
        <p:txBody>
          <a:bodyPr wrap="none" lIns="0" tIns="0" rIns="0" bIns="0" rtlCol="0" anchor="t"/>
          <a:lstStyle/>
          <a:p>
            <a:pPr marL="0" indent="0" algn="l">
              <a:lnSpc>
                <a:spcPct val="92000"/>
              </a:lnSpc>
              <a:buNone/>
            </a:pPr>
            <a:r>
              <a:rPr lang="en-US" sz="3700" kern="0" spc="-112" dirty="0">
                <a:solidFill>
                  <a:srgbClr val="2F4F4F"/>
                </a:solidFill>
                <a:latin typeface="DM Sans Light" pitchFamily="34" charset="0"/>
                <a:ea typeface="DM Sans Light" pitchFamily="34" charset="-122"/>
                <a:cs typeface="DM Sans Light" pitchFamily="34" charset="-120"/>
              </a:rPr>
              <a:t>Chi Tiết Quản Lý Danh Bạ</a:t>
            </a:r>
            <a:endParaRPr lang="en-US" sz="3700" dirty="0"/>
          </a:p>
        </p:txBody>
      </p:sp>
      <p:sp>
        <p:nvSpPr>
          <p:cNvPr id="14" name="Text 12">
            <a:extLst>
              <a:ext uri="{FF2B5EF4-FFF2-40B4-BE49-F238E27FC236}">
                <a16:creationId xmlns:a16="http://schemas.microsoft.com/office/drawing/2014/main" id="{929C215C-2443-2C95-7703-579244B04E09}"/>
              </a:ext>
            </a:extLst>
          </p:cNvPr>
          <p:cNvSpPr/>
          <p:nvPr/>
        </p:nvSpPr>
        <p:spPr>
          <a:xfrm>
            <a:off x="6658875" y="1668760"/>
            <a:ext cx="5339919"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Thêm &amp; chỉnh sửa</a:t>
            </a:r>
            <a:endParaRPr lang="en-US" sz="1850" dirty="0"/>
          </a:p>
        </p:txBody>
      </p:sp>
      <p:sp>
        <p:nvSpPr>
          <p:cNvPr id="18" name="Text 16">
            <a:extLst>
              <a:ext uri="{FF2B5EF4-FFF2-40B4-BE49-F238E27FC236}">
                <a16:creationId xmlns:a16="http://schemas.microsoft.com/office/drawing/2014/main" id="{B1CE8463-84D1-3E47-039C-542552A3AF97}"/>
              </a:ext>
            </a:extLst>
          </p:cNvPr>
          <p:cNvSpPr/>
          <p:nvPr/>
        </p:nvSpPr>
        <p:spPr>
          <a:xfrm>
            <a:off x="661475" y="1680848"/>
            <a:ext cx="5339820"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Xem chi tiết</a:t>
            </a:r>
            <a:endParaRPr lang="en-US" sz="1850" dirty="0"/>
          </a:p>
        </p:txBody>
      </p:sp>
      <p:pic>
        <p:nvPicPr>
          <p:cNvPr id="25" name="Picture 24">
            <a:extLst>
              <a:ext uri="{FF2B5EF4-FFF2-40B4-BE49-F238E27FC236}">
                <a16:creationId xmlns:a16="http://schemas.microsoft.com/office/drawing/2014/main" id="{7F36B1A3-9711-F0FC-D3A2-56C89321963B}"/>
              </a:ext>
            </a:extLst>
          </p:cNvPr>
          <p:cNvPicPr>
            <a:picLocks noChangeAspect="1"/>
          </p:cNvPicPr>
          <p:nvPr/>
        </p:nvPicPr>
        <p:blipFill>
          <a:blip r:embed="rId3"/>
          <a:stretch>
            <a:fillRect/>
          </a:stretch>
        </p:blipFill>
        <p:spPr>
          <a:xfrm>
            <a:off x="455852" y="2034565"/>
            <a:ext cx="2473134" cy="4391421"/>
          </a:xfrm>
          <a:prstGeom prst="rect">
            <a:avLst/>
          </a:prstGeom>
        </p:spPr>
      </p:pic>
      <p:pic>
        <p:nvPicPr>
          <p:cNvPr id="27" name="Picture 26">
            <a:extLst>
              <a:ext uri="{FF2B5EF4-FFF2-40B4-BE49-F238E27FC236}">
                <a16:creationId xmlns:a16="http://schemas.microsoft.com/office/drawing/2014/main" id="{40566853-3BF1-5287-42AE-F28498BC9C7D}"/>
              </a:ext>
            </a:extLst>
          </p:cNvPr>
          <p:cNvPicPr>
            <a:picLocks noChangeAspect="1"/>
          </p:cNvPicPr>
          <p:nvPr/>
        </p:nvPicPr>
        <p:blipFill>
          <a:blip r:embed="rId4"/>
          <a:stretch>
            <a:fillRect/>
          </a:stretch>
        </p:blipFill>
        <p:spPr>
          <a:xfrm>
            <a:off x="3051534" y="2034565"/>
            <a:ext cx="2448076" cy="4391421"/>
          </a:xfrm>
          <a:prstGeom prst="rect">
            <a:avLst/>
          </a:prstGeom>
        </p:spPr>
      </p:pic>
      <p:pic>
        <p:nvPicPr>
          <p:cNvPr id="29" name="Picture 28">
            <a:extLst>
              <a:ext uri="{FF2B5EF4-FFF2-40B4-BE49-F238E27FC236}">
                <a16:creationId xmlns:a16="http://schemas.microsoft.com/office/drawing/2014/main" id="{997F4137-15C4-218A-2AA2-B6558D74DF14}"/>
              </a:ext>
            </a:extLst>
          </p:cNvPr>
          <p:cNvPicPr>
            <a:picLocks noChangeAspect="1"/>
          </p:cNvPicPr>
          <p:nvPr/>
        </p:nvPicPr>
        <p:blipFill>
          <a:blip r:embed="rId5"/>
          <a:stretch>
            <a:fillRect/>
          </a:stretch>
        </p:blipFill>
        <p:spPr>
          <a:xfrm>
            <a:off x="6391744" y="2034565"/>
            <a:ext cx="2448076" cy="4391421"/>
          </a:xfrm>
          <a:prstGeom prst="rect">
            <a:avLst/>
          </a:prstGeom>
        </p:spPr>
      </p:pic>
      <p:pic>
        <p:nvPicPr>
          <p:cNvPr id="31" name="Picture 30">
            <a:extLst>
              <a:ext uri="{FF2B5EF4-FFF2-40B4-BE49-F238E27FC236}">
                <a16:creationId xmlns:a16="http://schemas.microsoft.com/office/drawing/2014/main" id="{45E79644-15EC-9C16-6EB9-0C5561B36975}"/>
              </a:ext>
            </a:extLst>
          </p:cNvPr>
          <p:cNvPicPr>
            <a:picLocks noChangeAspect="1"/>
          </p:cNvPicPr>
          <p:nvPr/>
        </p:nvPicPr>
        <p:blipFill>
          <a:blip r:embed="rId6"/>
          <a:stretch>
            <a:fillRect/>
          </a:stretch>
        </p:blipFill>
        <p:spPr>
          <a:xfrm>
            <a:off x="8962368" y="2034564"/>
            <a:ext cx="2773780" cy="4391421"/>
          </a:xfrm>
          <a:prstGeom prst="rect">
            <a:avLst/>
          </a:prstGeom>
        </p:spPr>
      </p:pic>
    </p:spTree>
    <p:extLst>
      <p:ext uri="{BB962C8B-B14F-4D97-AF65-F5344CB8AC3E}">
        <p14:creationId xmlns:p14="http://schemas.microsoft.com/office/powerpoint/2010/main" val="3437228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hape 0"/>
          <p:cNvSpPr/>
          <p:nvPr/>
        </p:nvSpPr>
        <p:spPr>
          <a:xfrm>
            <a:off x="661475" y="781328"/>
            <a:ext cx="963044" cy="287139"/>
          </a:xfrm>
          <a:prstGeom prst="roundRect">
            <a:avLst>
              <a:gd name="adj" fmla="val 47396"/>
            </a:avLst>
          </a:prstGeom>
          <a:solidFill>
            <a:srgbClr val="D4F7F5"/>
          </a:solidFill>
          <a:ln/>
        </p:spPr>
        <p:txBody>
          <a:bodyPr/>
          <a:lstStyle/>
          <a:p>
            <a:endParaRPr lang="vi-VN"/>
          </a:p>
        </p:txBody>
      </p:sp>
      <p:sp>
        <p:nvSpPr>
          <p:cNvPr id="4" name="Text 1"/>
          <p:cNvSpPr/>
          <p:nvPr/>
        </p:nvSpPr>
        <p:spPr>
          <a:xfrm>
            <a:off x="774879" y="867389"/>
            <a:ext cx="2174523" cy="173831"/>
          </a:xfrm>
          <a:prstGeom prst="rect">
            <a:avLst/>
          </a:prstGeom>
          <a:noFill/>
          <a:ln/>
        </p:spPr>
        <p:txBody>
          <a:bodyPr wrap="none" lIns="0" tIns="0" rIns="0" bIns="0" rtlCol="0" anchor="t"/>
          <a:lstStyle/>
          <a:p>
            <a:pPr marL="0" indent="0" algn="l">
              <a:lnSpc>
                <a:spcPct val="96000"/>
              </a:lnSpc>
              <a:buNone/>
            </a:pPr>
            <a:r>
              <a:rPr lang="en-US" sz="1150" dirty="0">
                <a:solidFill>
                  <a:srgbClr val="272525"/>
                </a:solidFill>
                <a:latin typeface="Manrope" pitchFamily="34" charset="0"/>
                <a:ea typeface="Manrope" pitchFamily="34" charset="-122"/>
                <a:cs typeface="Manrope" pitchFamily="34" charset="-120"/>
              </a:rPr>
              <a:t>GIAO DIỆN </a:t>
            </a:r>
            <a:endParaRPr lang="en-US" sz="1150" dirty="0"/>
          </a:p>
        </p:txBody>
      </p:sp>
      <p:sp>
        <p:nvSpPr>
          <p:cNvPr id="5" name="Text 2"/>
          <p:cNvSpPr/>
          <p:nvPr/>
        </p:nvSpPr>
        <p:spPr>
          <a:xfrm>
            <a:off x="593789" y="1273142"/>
            <a:ext cx="3841097" cy="1659479"/>
          </a:xfrm>
          <a:prstGeom prst="rect">
            <a:avLst/>
          </a:prstGeom>
          <a:noFill/>
          <a:ln/>
        </p:spPr>
        <p:txBody>
          <a:bodyPr wrap="none" lIns="0" tIns="0" rIns="0" bIns="0" rtlCol="0" anchor="t"/>
          <a:lstStyle/>
          <a:p>
            <a:pPr marL="0" indent="0" algn="l">
              <a:lnSpc>
                <a:spcPct val="92000"/>
              </a:lnSpc>
              <a:buNone/>
            </a:pPr>
            <a:r>
              <a:rPr lang="en-US" sz="3700" kern="0" spc="-112" dirty="0">
                <a:solidFill>
                  <a:srgbClr val="2F4F4F"/>
                </a:solidFill>
                <a:latin typeface="DM Sans Light" pitchFamily="34" charset="0"/>
                <a:ea typeface="DM Sans Light" pitchFamily="34" charset="-122"/>
                <a:cs typeface="DM Sans Light" pitchFamily="34" charset="-120"/>
              </a:rPr>
              <a:t>Cài Đặt Giao </a:t>
            </a:r>
            <a:r>
              <a:rPr lang="en-US" sz="3700" kern="0" spc="-112" dirty="0" err="1">
                <a:solidFill>
                  <a:srgbClr val="2F4F4F"/>
                </a:solidFill>
                <a:latin typeface="DM Sans Light" pitchFamily="34" charset="0"/>
                <a:ea typeface="DM Sans Light" pitchFamily="34" charset="-122"/>
                <a:cs typeface="DM Sans Light" pitchFamily="34" charset="-120"/>
              </a:rPr>
              <a:t>Diện</a:t>
            </a:r>
            <a:r>
              <a:rPr lang="en-US" sz="3700" kern="0" spc="-112" dirty="0">
                <a:solidFill>
                  <a:srgbClr val="2F4F4F"/>
                </a:solidFill>
                <a:latin typeface="DM Sans Light" pitchFamily="34" charset="0"/>
                <a:ea typeface="DM Sans Light" pitchFamily="34" charset="-122"/>
                <a:cs typeface="DM Sans Light" pitchFamily="34" charset="-120"/>
              </a:rPr>
              <a:t> </a:t>
            </a:r>
          </a:p>
          <a:p>
            <a:pPr marL="0" indent="0" algn="l">
              <a:lnSpc>
                <a:spcPct val="92000"/>
              </a:lnSpc>
              <a:buNone/>
            </a:pPr>
            <a:r>
              <a:rPr lang="en-US" sz="3700" kern="0" spc="-112" dirty="0" err="1">
                <a:solidFill>
                  <a:srgbClr val="2F4F4F"/>
                </a:solidFill>
                <a:latin typeface="DM Sans Light" pitchFamily="34" charset="0"/>
                <a:ea typeface="DM Sans Light" pitchFamily="34" charset="-122"/>
                <a:cs typeface="DM Sans Light" pitchFamily="34" charset="-120"/>
              </a:rPr>
              <a:t>Và</a:t>
            </a:r>
            <a:r>
              <a:rPr lang="en-US" sz="3700" kern="0" spc="-112" dirty="0">
                <a:solidFill>
                  <a:srgbClr val="2F4F4F"/>
                </a:solidFill>
                <a:latin typeface="DM Sans Light" pitchFamily="34" charset="0"/>
                <a:ea typeface="DM Sans Light" pitchFamily="34" charset="-122"/>
                <a:cs typeface="DM Sans Light" pitchFamily="34" charset="-120"/>
              </a:rPr>
              <a:t> </a:t>
            </a:r>
            <a:r>
              <a:rPr lang="en-US" sz="3700" kern="0" spc="-112" dirty="0" err="1">
                <a:solidFill>
                  <a:srgbClr val="2F4F4F"/>
                </a:solidFill>
                <a:latin typeface="DM Sans Light" pitchFamily="34" charset="0"/>
                <a:ea typeface="DM Sans Light" pitchFamily="34" charset="-122"/>
                <a:cs typeface="DM Sans Light" pitchFamily="34" charset="-120"/>
              </a:rPr>
              <a:t>Ngôn</a:t>
            </a:r>
            <a:r>
              <a:rPr lang="en-US" sz="3700" kern="0" spc="-112" dirty="0">
                <a:solidFill>
                  <a:srgbClr val="2F4F4F"/>
                </a:solidFill>
                <a:latin typeface="DM Sans Light" pitchFamily="34" charset="0"/>
                <a:ea typeface="DM Sans Light" pitchFamily="34" charset="-122"/>
                <a:cs typeface="DM Sans Light" pitchFamily="34" charset="-120"/>
              </a:rPr>
              <a:t> </a:t>
            </a:r>
            <a:r>
              <a:rPr lang="en-US" sz="3700" kern="0" spc="-112" dirty="0" err="1">
                <a:solidFill>
                  <a:srgbClr val="2F4F4F"/>
                </a:solidFill>
                <a:latin typeface="DM Sans Light" pitchFamily="34" charset="0"/>
                <a:ea typeface="DM Sans Light" pitchFamily="34" charset="-122"/>
                <a:cs typeface="DM Sans Light" pitchFamily="34" charset="-120"/>
              </a:rPr>
              <a:t>Ngữ</a:t>
            </a:r>
            <a:endParaRPr lang="en-US" sz="3700" dirty="0"/>
          </a:p>
        </p:txBody>
      </p:sp>
      <p:sp>
        <p:nvSpPr>
          <p:cNvPr id="6" name="Shape 3"/>
          <p:cNvSpPr/>
          <p:nvPr/>
        </p:nvSpPr>
        <p:spPr>
          <a:xfrm>
            <a:off x="593788" y="2743609"/>
            <a:ext cx="3496877" cy="189012"/>
          </a:xfrm>
          <a:prstGeom prst="roundRect">
            <a:avLst>
              <a:gd name="adj" fmla="val 49999"/>
            </a:avLst>
          </a:prstGeom>
          <a:solidFill>
            <a:srgbClr val="D4F7F5"/>
          </a:solidFill>
          <a:ln/>
        </p:spPr>
        <p:txBody>
          <a:bodyPr/>
          <a:lstStyle/>
          <a:p>
            <a:endParaRPr lang="vi-VN"/>
          </a:p>
        </p:txBody>
      </p:sp>
      <p:sp>
        <p:nvSpPr>
          <p:cNvPr id="7" name="Text 4"/>
          <p:cNvSpPr/>
          <p:nvPr/>
        </p:nvSpPr>
        <p:spPr>
          <a:xfrm>
            <a:off x="850481" y="3014814"/>
            <a:ext cx="3118863"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Tùy chỉnh giao diện</a:t>
            </a:r>
            <a:endParaRPr lang="en-US" sz="1850" dirty="0"/>
          </a:p>
        </p:txBody>
      </p:sp>
      <p:sp>
        <p:nvSpPr>
          <p:cNvPr id="8" name="Text 5"/>
          <p:cNvSpPr/>
          <p:nvPr/>
        </p:nvSpPr>
        <p:spPr>
          <a:xfrm>
            <a:off x="850482" y="3356861"/>
            <a:ext cx="3118863" cy="634901"/>
          </a:xfrm>
          <a:prstGeom prst="rect">
            <a:avLst/>
          </a:prstGeom>
          <a:noFill/>
          <a:ln/>
        </p:spPr>
        <p:txBody>
          <a:bodyPr wrap="square" lIns="0" tIns="0" rIns="0" bIns="0" rtlCol="0" anchor="t">
            <a:noAutofit/>
          </a:bodyPr>
          <a:lstStyle/>
          <a:p>
            <a:pPr marL="0" indent="0" algn="l">
              <a:lnSpc>
                <a:spcPct val="117000"/>
              </a:lnSpc>
              <a:buNone/>
            </a:pPr>
            <a:r>
              <a:rPr lang="en-US" sz="1300" dirty="0">
                <a:solidFill>
                  <a:srgbClr val="272525"/>
                </a:solidFill>
                <a:latin typeface="Manrope" pitchFamily="34" charset="0"/>
                <a:ea typeface="Manrope" pitchFamily="34" charset="-122"/>
                <a:cs typeface="Manrope" pitchFamily="34" charset="-120"/>
              </a:rPr>
              <a:t>SettingsActivity cho phép người dùng chọn chế độ sáng, tối hoặc theo hệ thống để phù hợp với thói quen sử dụng cá </a:t>
            </a:r>
            <a:r>
              <a:rPr lang="en-US" sz="1300" dirty="0" err="1">
                <a:solidFill>
                  <a:srgbClr val="272525"/>
                </a:solidFill>
                <a:latin typeface="Manrope" pitchFamily="34" charset="0"/>
                <a:ea typeface="Manrope" pitchFamily="34" charset="-122"/>
                <a:cs typeface="Manrope" pitchFamily="34" charset="-120"/>
              </a:rPr>
              <a:t>nhân</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Ngoài</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ra</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còn</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bổ</a:t>
            </a:r>
            <a:r>
              <a:rPr lang="en-US" sz="1300" dirty="0">
                <a:solidFill>
                  <a:srgbClr val="272525"/>
                </a:solidFill>
                <a:latin typeface="Manrope" pitchFamily="34" charset="0"/>
                <a:ea typeface="Manrope" pitchFamily="34" charset="-122"/>
                <a:cs typeface="Manrope" pitchFamily="34" charset="-120"/>
              </a:rPr>
              <a:t> sung </a:t>
            </a:r>
            <a:r>
              <a:rPr lang="en-US" sz="1300" dirty="0" err="1">
                <a:solidFill>
                  <a:srgbClr val="272525"/>
                </a:solidFill>
                <a:latin typeface="Manrope" pitchFamily="34" charset="0"/>
                <a:ea typeface="Manrope" pitchFamily="34" charset="-122"/>
                <a:cs typeface="Manrope" pitchFamily="34" charset="-120"/>
              </a:rPr>
              <a:t>thêm</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ngôn</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ngữ</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để</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đa</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dạng</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ngôn</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ngữ</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cũng</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như</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tệp</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khách</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hàng</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sử</a:t>
            </a:r>
            <a:r>
              <a:rPr lang="en-US" sz="1300" dirty="0">
                <a:solidFill>
                  <a:srgbClr val="272525"/>
                </a:solidFill>
                <a:latin typeface="Manrope" pitchFamily="34" charset="0"/>
                <a:ea typeface="Manrope" pitchFamily="34" charset="-122"/>
                <a:cs typeface="Manrope" pitchFamily="34" charset="-120"/>
              </a:rPr>
              <a:t> </a:t>
            </a:r>
            <a:r>
              <a:rPr lang="en-US" sz="1300" dirty="0" err="1">
                <a:solidFill>
                  <a:srgbClr val="272525"/>
                </a:solidFill>
                <a:latin typeface="Manrope" pitchFamily="34" charset="0"/>
                <a:ea typeface="Manrope" pitchFamily="34" charset="-122"/>
                <a:cs typeface="Manrope" pitchFamily="34" charset="-120"/>
              </a:rPr>
              <a:t>dụng</a:t>
            </a:r>
            <a:endParaRPr lang="en-US" sz="1300" dirty="0"/>
          </a:p>
        </p:txBody>
      </p:sp>
      <p:pic>
        <p:nvPicPr>
          <p:cNvPr id="16" name="Picture 15">
            <a:extLst>
              <a:ext uri="{FF2B5EF4-FFF2-40B4-BE49-F238E27FC236}">
                <a16:creationId xmlns:a16="http://schemas.microsoft.com/office/drawing/2014/main" id="{CD25EF21-22BC-ECA9-96E0-D3343C1099F2}"/>
              </a:ext>
            </a:extLst>
          </p:cNvPr>
          <p:cNvPicPr>
            <a:picLocks noChangeAspect="1"/>
          </p:cNvPicPr>
          <p:nvPr/>
        </p:nvPicPr>
        <p:blipFill>
          <a:blip r:embed="rId3"/>
          <a:stretch>
            <a:fillRect/>
          </a:stretch>
        </p:blipFill>
        <p:spPr>
          <a:xfrm>
            <a:off x="4575753" y="970021"/>
            <a:ext cx="2904817" cy="5408579"/>
          </a:xfrm>
          <a:prstGeom prst="rect">
            <a:avLst/>
          </a:prstGeom>
        </p:spPr>
      </p:pic>
      <p:pic>
        <p:nvPicPr>
          <p:cNvPr id="18" name="Picture 17">
            <a:extLst>
              <a:ext uri="{FF2B5EF4-FFF2-40B4-BE49-F238E27FC236}">
                <a16:creationId xmlns:a16="http://schemas.microsoft.com/office/drawing/2014/main" id="{DB94B3E2-F6A9-6488-F0BF-28AA0A9631CD}"/>
              </a:ext>
            </a:extLst>
          </p:cNvPr>
          <p:cNvPicPr>
            <a:picLocks noChangeAspect="1"/>
          </p:cNvPicPr>
          <p:nvPr/>
        </p:nvPicPr>
        <p:blipFill>
          <a:blip r:embed="rId4"/>
          <a:stretch>
            <a:fillRect/>
          </a:stretch>
        </p:blipFill>
        <p:spPr>
          <a:xfrm>
            <a:off x="7824791" y="970021"/>
            <a:ext cx="3040493" cy="54085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413B5-0C25-7031-AA20-6EBB16150D60}"/>
            </a:ext>
          </a:extLst>
        </p:cNvPr>
        <p:cNvGrpSpPr/>
        <p:nvPr/>
      </p:nvGrpSpPr>
      <p:grpSpPr>
        <a:xfrm>
          <a:off x="0" y="0"/>
          <a:ext cx="0" cy="0"/>
          <a:chOff x="0" y="0"/>
          <a:chExt cx="0" cy="0"/>
        </a:xfrm>
      </p:grpSpPr>
      <p:pic>
        <p:nvPicPr>
          <p:cNvPr id="2" name="Image 0">
            <a:extLst>
              <a:ext uri="{FF2B5EF4-FFF2-40B4-BE49-F238E27FC236}">
                <a16:creationId xmlns:a16="http://schemas.microsoft.com/office/drawing/2014/main" id="{73EF7E0C-F489-A36C-5560-C225778543D0}"/>
              </a:ext>
            </a:extLst>
          </p:cNvPr>
          <p:cNvPicPr>
            <a:picLocks noChangeAspect="1"/>
          </p:cNvPicPr>
          <p:nvPr/>
        </p:nvPicPr>
        <p:blipFill>
          <a:blip r:embed="rId3"/>
          <a:stretch>
            <a:fillRect/>
          </a:stretch>
        </p:blipFill>
        <p:spPr>
          <a:xfrm>
            <a:off x="0" y="0"/>
            <a:ext cx="12191695" cy="2480766"/>
          </a:xfrm>
          <a:custGeom>
            <a:avLst/>
            <a:gdLst/>
            <a:ahLst/>
            <a:cxnLst/>
            <a:rect l="0" t="0" r="100000" b="100000"/>
            <a:pathLst>
              <a:path w="100000" h="100000">
                <a:moveTo>
                  <a:pt x="0" y="0"/>
                </a:moveTo>
                <a:lnTo>
                  <a:pt x="100000" y="0"/>
                </a:lnTo>
                <a:lnTo>
                  <a:pt x="100000" y="81930"/>
                </a:lnTo>
                <a:lnTo>
                  <a:pt x="95020" y="85250"/>
                </a:lnTo>
                <a:lnTo>
                  <a:pt x="90920" y="87600"/>
                </a:lnTo>
                <a:lnTo>
                  <a:pt x="88960" y="88480"/>
                </a:lnTo>
                <a:lnTo>
                  <a:pt x="88870" y="88670"/>
                </a:lnTo>
                <a:lnTo>
                  <a:pt x="83400" y="91210"/>
                </a:lnTo>
                <a:lnTo>
                  <a:pt x="76070" y="93950"/>
                </a:lnTo>
                <a:lnTo>
                  <a:pt x="69820" y="95700"/>
                </a:lnTo>
                <a:lnTo>
                  <a:pt x="63480" y="96970"/>
                </a:lnTo>
                <a:lnTo>
                  <a:pt x="57130" y="97750"/>
                </a:lnTo>
                <a:lnTo>
                  <a:pt x="50200" y="98050"/>
                </a:lnTo>
                <a:lnTo>
                  <a:pt x="44240" y="97850"/>
                </a:lnTo>
                <a:lnTo>
                  <a:pt x="38480" y="97270"/>
                </a:lnTo>
                <a:lnTo>
                  <a:pt x="32810" y="96290"/>
                </a:lnTo>
                <a:lnTo>
                  <a:pt x="25200" y="94340"/>
                </a:lnTo>
                <a:lnTo>
                  <a:pt x="19530" y="92380"/>
                </a:lnTo>
                <a:lnTo>
                  <a:pt x="13960" y="90040"/>
                </a:lnTo>
                <a:lnTo>
                  <a:pt x="7320" y="86620"/>
                </a:lnTo>
                <a:lnTo>
                  <a:pt x="290" y="82230"/>
                </a:lnTo>
                <a:lnTo>
                  <a:pt x="0" y="81930"/>
                </a:lnTo>
                <a:close/>
              </a:path>
            </a:pathLst>
          </a:custGeom>
        </p:spPr>
      </p:pic>
      <p:sp>
        <p:nvSpPr>
          <p:cNvPr id="3" name="Shape 0">
            <a:extLst>
              <a:ext uri="{FF2B5EF4-FFF2-40B4-BE49-F238E27FC236}">
                <a16:creationId xmlns:a16="http://schemas.microsoft.com/office/drawing/2014/main" id="{93DB51F9-E975-AE89-338B-AC3F0F1FD93C}"/>
              </a:ext>
            </a:extLst>
          </p:cNvPr>
          <p:cNvSpPr/>
          <p:nvPr/>
        </p:nvSpPr>
        <p:spPr>
          <a:xfrm>
            <a:off x="661476" y="2854431"/>
            <a:ext cx="1070048" cy="315211"/>
          </a:xfrm>
          <a:prstGeom prst="roundRect">
            <a:avLst>
              <a:gd name="adj" fmla="val 47396"/>
            </a:avLst>
          </a:prstGeom>
          <a:solidFill>
            <a:srgbClr val="D4F7F5"/>
          </a:solidFill>
          <a:ln/>
        </p:spPr>
        <p:txBody>
          <a:bodyPr/>
          <a:lstStyle/>
          <a:p>
            <a:endParaRPr lang="vi-VN"/>
          </a:p>
        </p:txBody>
      </p:sp>
      <p:sp>
        <p:nvSpPr>
          <p:cNvPr id="4" name="Text 1">
            <a:extLst>
              <a:ext uri="{FF2B5EF4-FFF2-40B4-BE49-F238E27FC236}">
                <a16:creationId xmlns:a16="http://schemas.microsoft.com/office/drawing/2014/main" id="{862A113E-B42A-D687-8ADA-545E0CE0FAA7}"/>
              </a:ext>
            </a:extLst>
          </p:cNvPr>
          <p:cNvSpPr/>
          <p:nvPr/>
        </p:nvSpPr>
        <p:spPr>
          <a:xfrm>
            <a:off x="774879" y="2939157"/>
            <a:ext cx="2174523" cy="173831"/>
          </a:xfrm>
          <a:prstGeom prst="rect">
            <a:avLst/>
          </a:prstGeom>
          <a:noFill/>
          <a:ln/>
        </p:spPr>
        <p:txBody>
          <a:bodyPr wrap="none" lIns="0" tIns="0" rIns="0" bIns="0" rtlCol="0" anchor="t"/>
          <a:lstStyle/>
          <a:p>
            <a:pPr marL="0" indent="0" algn="l">
              <a:lnSpc>
                <a:spcPct val="96000"/>
              </a:lnSpc>
              <a:buNone/>
            </a:pPr>
            <a:r>
              <a:rPr lang="en-US" sz="1150" dirty="0">
                <a:solidFill>
                  <a:srgbClr val="272525"/>
                </a:solidFill>
                <a:latin typeface="Manrope" pitchFamily="34" charset="0"/>
                <a:ea typeface="Manrope" pitchFamily="34" charset="-122"/>
                <a:cs typeface="Manrope" pitchFamily="34" charset="-120"/>
              </a:rPr>
              <a:t>TỔNG KẾT</a:t>
            </a:r>
            <a:endParaRPr lang="en-US" sz="1150" dirty="0"/>
          </a:p>
        </p:txBody>
      </p:sp>
      <p:sp>
        <p:nvSpPr>
          <p:cNvPr id="5" name="Text 2">
            <a:extLst>
              <a:ext uri="{FF2B5EF4-FFF2-40B4-BE49-F238E27FC236}">
                <a16:creationId xmlns:a16="http://schemas.microsoft.com/office/drawing/2014/main" id="{00B614C4-1945-7EFA-2C88-576CD7A9C7BE}"/>
              </a:ext>
            </a:extLst>
          </p:cNvPr>
          <p:cNvSpPr/>
          <p:nvPr/>
        </p:nvSpPr>
        <p:spPr>
          <a:xfrm>
            <a:off x="661475" y="3245247"/>
            <a:ext cx="10868745" cy="519807"/>
          </a:xfrm>
          <a:prstGeom prst="rect">
            <a:avLst/>
          </a:prstGeom>
          <a:noFill/>
          <a:ln/>
        </p:spPr>
        <p:txBody>
          <a:bodyPr wrap="none" lIns="0" tIns="0" rIns="0" bIns="0" rtlCol="0" anchor="t"/>
          <a:lstStyle/>
          <a:p>
            <a:pPr marL="0" indent="0" algn="l">
              <a:lnSpc>
                <a:spcPct val="92000"/>
              </a:lnSpc>
              <a:buNone/>
            </a:pPr>
            <a:r>
              <a:rPr lang="en-US" sz="3700" kern="0" spc="-112" dirty="0" err="1">
                <a:solidFill>
                  <a:srgbClr val="2F4F4F"/>
                </a:solidFill>
                <a:latin typeface="DM Sans Light" pitchFamily="34" charset="0"/>
                <a:ea typeface="DM Sans Light" pitchFamily="34" charset="-122"/>
                <a:cs typeface="DM Sans Light" pitchFamily="34" charset="-120"/>
              </a:rPr>
              <a:t>Tổng</a:t>
            </a:r>
            <a:r>
              <a:rPr lang="en-US" sz="3700" kern="0" spc="-112" dirty="0">
                <a:solidFill>
                  <a:srgbClr val="2F4F4F"/>
                </a:solidFill>
                <a:latin typeface="DM Sans Light" pitchFamily="34" charset="0"/>
                <a:ea typeface="DM Sans Light" pitchFamily="34" charset="-122"/>
                <a:cs typeface="DM Sans Light" pitchFamily="34" charset="-120"/>
              </a:rPr>
              <a:t> Kết</a:t>
            </a:r>
            <a:endParaRPr lang="en-US" sz="3700" dirty="0"/>
          </a:p>
        </p:txBody>
      </p:sp>
      <p:sp>
        <p:nvSpPr>
          <p:cNvPr id="8" name="Text 5">
            <a:extLst>
              <a:ext uri="{FF2B5EF4-FFF2-40B4-BE49-F238E27FC236}">
                <a16:creationId xmlns:a16="http://schemas.microsoft.com/office/drawing/2014/main" id="{10A85C11-C125-1793-4F68-789D21AB0F37}"/>
              </a:ext>
            </a:extLst>
          </p:cNvPr>
          <p:cNvSpPr/>
          <p:nvPr/>
        </p:nvSpPr>
        <p:spPr>
          <a:xfrm>
            <a:off x="850482" y="5366841"/>
            <a:ext cx="3118863" cy="634901"/>
          </a:xfrm>
          <a:prstGeom prst="rect">
            <a:avLst/>
          </a:prstGeom>
          <a:noFill/>
          <a:ln/>
        </p:spPr>
        <p:txBody>
          <a:bodyPr wrap="square" lIns="0" tIns="0" rIns="0" bIns="0" rtlCol="0" anchor="t">
            <a:normAutofit/>
          </a:bodyPr>
          <a:lstStyle/>
          <a:p>
            <a:pPr marL="0" indent="0" algn="l">
              <a:lnSpc>
                <a:spcPct val="117000"/>
              </a:lnSpc>
              <a:buNone/>
            </a:pPr>
            <a:endParaRPr lang="en-US" sz="1150" dirty="0"/>
          </a:p>
        </p:txBody>
      </p:sp>
      <p:sp>
        <p:nvSpPr>
          <p:cNvPr id="9" name="Shape 6">
            <a:extLst>
              <a:ext uri="{FF2B5EF4-FFF2-40B4-BE49-F238E27FC236}">
                <a16:creationId xmlns:a16="http://schemas.microsoft.com/office/drawing/2014/main" id="{12474125-7999-46E7-C05F-82C534842F54}"/>
              </a:ext>
            </a:extLst>
          </p:cNvPr>
          <p:cNvSpPr/>
          <p:nvPr/>
        </p:nvSpPr>
        <p:spPr>
          <a:xfrm>
            <a:off x="1351240" y="4321528"/>
            <a:ext cx="3496877" cy="189012"/>
          </a:xfrm>
          <a:prstGeom prst="roundRect">
            <a:avLst>
              <a:gd name="adj" fmla="val 49999"/>
            </a:avLst>
          </a:prstGeom>
          <a:solidFill>
            <a:srgbClr val="D4F7F5"/>
          </a:solidFill>
          <a:ln/>
        </p:spPr>
        <p:txBody>
          <a:bodyPr/>
          <a:lstStyle/>
          <a:p>
            <a:endParaRPr lang="vi-VN"/>
          </a:p>
        </p:txBody>
      </p:sp>
      <p:sp>
        <p:nvSpPr>
          <p:cNvPr id="10" name="Text 7">
            <a:extLst>
              <a:ext uri="{FF2B5EF4-FFF2-40B4-BE49-F238E27FC236}">
                <a16:creationId xmlns:a16="http://schemas.microsoft.com/office/drawing/2014/main" id="{893BCCA7-7E41-B602-83FC-7465C0D96FFA}"/>
              </a:ext>
            </a:extLst>
          </p:cNvPr>
          <p:cNvSpPr/>
          <p:nvPr/>
        </p:nvSpPr>
        <p:spPr>
          <a:xfrm>
            <a:off x="1540246" y="4641502"/>
            <a:ext cx="3118863"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Lưu trữ cục bộ</a:t>
            </a:r>
            <a:endParaRPr lang="en-US" sz="1850" dirty="0"/>
          </a:p>
        </p:txBody>
      </p:sp>
      <p:sp>
        <p:nvSpPr>
          <p:cNvPr id="11" name="Text 8">
            <a:extLst>
              <a:ext uri="{FF2B5EF4-FFF2-40B4-BE49-F238E27FC236}">
                <a16:creationId xmlns:a16="http://schemas.microsoft.com/office/drawing/2014/main" id="{A3200C8D-A450-432C-0555-E038EF6F3372}"/>
              </a:ext>
            </a:extLst>
          </p:cNvPr>
          <p:cNvSpPr/>
          <p:nvPr/>
        </p:nvSpPr>
        <p:spPr>
          <a:xfrm>
            <a:off x="1540245" y="4976025"/>
            <a:ext cx="3118863" cy="634901"/>
          </a:xfrm>
          <a:prstGeom prst="rect">
            <a:avLst/>
          </a:prstGeom>
          <a:noFill/>
          <a:ln/>
        </p:spPr>
        <p:txBody>
          <a:bodyPr wrap="square" lIns="0" tIns="0" rIns="0" bIns="0" rtlCol="0" anchor="t">
            <a:noAutofit/>
          </a:bodyPr>
          <a:lstStyle/>
          <a:p>
            <a:pPr marL="0" indent="0" algn="l">
              <a:lnSpc>
                <a:spcPct val="117000"/>
              </a:lnSpc>
              <a:buNone/>
            </a:pPr>
            <a:r>
              <a:rPr lang="en-US" sz="1300" dirty="0">
                <a:solidFill>
                  <a:srgbClr val="272525"/>
                </a:solidFill>
                <a:latin typeface="Manrope" pitchFamily="34" charset="0"/>
                <a:ea typeface="Manrope" pitchFamily="34" charset="-122"/>
                <a:cs typeface="Manrope" pitchFamily="34" charset="-120"/>
              </a:rPr>
              <a:t>Dữ liệu được lưu trữ cục bộ ổn định trên thiết bị, đảm bảo hoạt động ngoại tuyến và dễ dàng mở rộng trong tương lai.</a:t>
            </a:r>
            <a:endParaRPr lang="en-US" sz="1300" dirty="0"/>
          </a:p>
        </p:txBody>
      </p:sp>
      <p:sp>
        <p:nvSpPr>
          <p:cNvPr id="12" name="Shape 9">
            <a:extLst>
              <a:ext uri="{FF2B5EF4-FFF2-40B4-BE49-F238E27FC236}">
                <a16:creationId xmlns:a16="http://schemas.microsoft.com/office/drawing/2014/main" id="{97F0E897-D4F8-54CA-0974-9941045F3FAC}"/>
              </a:ext>
            </a:extLst>
          </p:cNvPr>
          <p:cNvSpPr/>
          <p:nvPr/>
        </p:nvSpPr>
        <p:spPr>
          <a:xfrm>
            <a:off x="6284805" y="4143028"/>
            <a:ext cx="3496877" cy="189012"/>
          </a:xfrm>
          <a:prstGeom prst="roundRect">
            <a:avLst>
              <a:gd name="adj" fmla="val 49999"/>
            </a:avLst>
          </a:prstGeom>
          <a:solidFill>
            <a:srgbClr val="D4F7F5"/>
          </a:solidFill>
          <a:ln/>
        </p:spPr>
        <p:txBody>
          <a:bodyPr/>
          <a:lstStyle/>
          <a:p>
            <a:endParaRPr lang="vi-VN"/>
          </a:p>
        </p:txBody>
      </p:sp>
      <p:sp>
        <p:nvSpPr>
          <p:cNvPr id="13" name="Text 10">
            <a:extLst>
              <a:ext uri="{FF2B5EF4-FFF2-40B4-BE49-F238E27FC236}">
                <a16:creationId xmlns:a16="http://schemas.microsoft.com/office/drawing/2014/main" id="{8797F363-3ADA-924B-4829-8A838EF1E505}"/>
              </a:ext>
            </a:extLst>
          </p:cNvPr>
          <p:cNvSpPr/>
          <p:nvPr/>
        </p:nvSpPr>
        <p:spPr>
          <a:xfrm>
            <a:off x="6662819" y="4450620"/>
            <a:ext cx="3118863" cy="259854"/>
          </a:xfrm>
          <a:prstGeom prst="rect">
            <a:avLst/>
          </a:prstGeom>
          <a:noFill/>
          <a:ln/>
        </p:spPr>
        <p:txBody>
          <a:bodyPr wrap="none" lIns="0" tIns="0" rIns="0" bIns="0" rtlCol="0" anchor="t"/>
          <a:lstStyle/>
          <a:p>
            <a:pPr marL="0" indent="0" algn="l">
              <a:lnSpc>
                <a:spcPct val="92000"/>
              </a:lnSpc>
              <a:buNone/>
            </a:pPr>
            <a:r>
              <a:rPr lang="en-US" sz="1850" kern="0" spc="-56" dirty="0">
                <a:solidFill>
                  <a:srgbClr val="272525"/>
                </a:solidFill>
                <a:latin typeface="DM Sans Light" pitchFamily="34" charset="0"/>
                <a:ea typeface="DM Sans Light" pitchFamily="34" charset="-122"/>
                <a:cs typeface="DM Sans Light" pitchFamily="34" charset="-120"/>
              </a:rPr>
              <a:t>Định hướng phát triển</a:t>
            </a:r>
            <a:endParaRPr lang="en-US" sz="1850" dirty="0"/>
          </a:p>
        </p:txBody>
      </p:sp>
      <p:sp>
        <p:nvSpPr>
          <p:cNvPr id="14" name="Text 11">
            <a:extLst>
              <a:ext uri="{FF2B5EF4-FFF2-40B4-BE49-F238E27FC236}">
                <a16:creationId xmlns:a16="http://schemas.microsoft.com/office/drawing/2014/main" id="{7D727D91-2042-C6DF-2F21-34CFB3FD70C3}"/>
              </a:ext>
            </a:extLst>
          </p:cNvPr>
          <p:cNvSpPr/>
          <p:nvPr/>
        </p:nvSpPr>
        <p:spPr>
          <a:xfrm>
            <a:off x="6662819" y="4799806"/>
            <a:ext cx="3118863" cy="634901"/>
          </a:xfrm>
          <a:prstGeom prst="rect">
            <a:avLst/>
          </a:prstGeom>
          <a:noFill/>
          <a:ln/>
        </p:spPr>
        <p:txBody>
          <a:bodyPr wrap="square" lIns="0" tIns="0" rIns="0" bIns="0" rtlCol="0" anchor="t">
            <a:noAutofit/>
          </a:bodyPr>
          <a:lstStyle/>
          <a:p>
            <a:pPr marL="0" indent="0" algn="l">
              <a:lnSpc>
                <a:spcPct val="117000"/>
              </a:lnSpc>
              <a:buNone/>
            </a:pPr>
            <a:r>
              <a:rPr lang="en-US" sz="1300" dirty="0">
                <a:solidFill>
                  <a:srgbClr val="272525"/>
                </a:solidFill>
                <a:latin typeface="Manrope" pitchFamily="34" charset="0"/>
                <a:ea typeface="Manrope" pitchFamily="34" charset="-122"/>
                <a:cs typeface="Manrope" pitchFamily="34" charset="-120"/>
              </a:rPr>
              <a:t>ContactVIP đặt nền tảng vững chắc cho việc mở rộng thêm các tính năng như đồng bộ đám mây, sao lưu và chia sẻ danh bạ.</a:t>
            </a:r>
            <a:endParaRPr lang="en-US" sz="1300" dirty="0"/>
          </a:p>
        </p:txBody>
      </p:sp>
    </p:spTree>
    <p:extLst>
      <p:ext uri="{BB962C8B-B14F-4D97-AF65-F5344CB8AC3E}">
        <p14:creationId xmlns:p14="http://schemas.microsoft.com/office/powerpoint/2010/main" val="2870056336"/>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38</TotalTime>
  <Words>856</Words>
  <Application>Microsoft Office PowerPoint</Application>
  <PresentationFormat>Widescreen</PresentationFormat>
  <Paragraphs>88</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DM Sans Bold</vt:lpstr>
      <vt:lpstr>Tw Cen MT</vt:lpstr>
      <vt:lpstr>Manrope</vt:lpstr>
      <vt:lpstr>Arial</vt:lpstr>
      <vt:lpstr>DM Sans Light</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Hồ Huy Tiến</cp:lastModifiedBy>
  <cp:revision>2</cp:revision>
  <dcterms:created xsi:type="dcterms:W3CDTF">2026-08-26T13:42:25Z</dcterms:created>
  <dcterms:modified xsi:type="dcterms:W3CDTF">2026-08-26T14:22:31Z</dcterms:modified>
</cp:coreProperties>
</file>